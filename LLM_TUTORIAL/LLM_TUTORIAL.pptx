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2"/>
  </p:normalViewPr>
  <p:slideViewPr>
    <p:cSldViewPr snapToGrid="0">
      <p:cViewPr>
        <p:scale>
          <a:sx n="100" d="100"/>
          <a:sy n="100" d="100"/>
        </p:scale>
        <p:origin x="10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7A4362B-8D4F-244A-BB03-15454CC81C86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03316D-89FE-8248-BE55-73F565C17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7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4362B-8D4F-244A-BB03-15454CC81C86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403316D-89FE-8248-BE55-73F565C17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66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7A4362B-8D4F-244A-BB03-15454CC81C86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03316D-89FE-8248-BE55-73F565C17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58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4362B-8D4F-244A-BB03-15454CC81C86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316D-89FE-8248-BE55-73F565C17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8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4362B-8D4F-244A-BB03-15454CC81C86}" type="datetimeFigureOut">
              <a:rPr lang="en-US" smtClean="0"/>
              <a:t>3/23/25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316D-89FE-8248-BE55-73F565C17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4362B-8D4F-244A-BB03-15454CC81C86}" type="datetimeFigureOut">
              <a:rPr lang="en-US" smtClean="0"/>
              <a:t>3/23/25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316D-89FE-8248-BE55-73F565C17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78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4362B-8D4F-244A-BB03-15454CC81C86}" type="datetimeFigureOut">
              <a:rPr lang="en-US" smtClean="0"/>
              <a:t>3/23/25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316D-89FE-8248-BE55-73F565C17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5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7A4362B-8D4F-244A-BB03-15454CC81C86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03316D-89FE-8248-BE55-73F565C17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5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4362B-8D4F-244A-BB03-15454CC81C86}" type="datetimeFigureOut">
              <a:rPr lang="en-US" smtClean="0"/>
              <a:t>3/23/25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316D-89FE-8248-BE55-73F565C17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96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4362B-8D4F-244A-BB03-15454CC81C86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3316D-89FE-8248-BE55-73F565C17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76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7A4362B-8D4F-244A-BB03-15454CC81C86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403316D-89FE-8248-BE55-73F565C17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99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7A4362B-8D4F-244A-BB03-15454CC81C86}" type="datetimeFigureOut">
              <a:rPr lang="en-US" smtClean="0"/>
              <a:t>3/23/25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403316D-89FE-8248-BE55-73F565C1706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066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ynthea.mitre.org/abou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BioGPT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github.com/chaoyi-wu/PMC-LLaM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gif"/><Relationship Id="rId5" Type="http://schemas.openxmlformats.org/officeDocument/2006/relationships/image" Target="../media/image6.png"/><Relationship Id="rId4" Type="http://schemas.openxmlformats.org/officeDocument/2006/relationships/hyperlink" Target="https://openai.com/index/gpt-4o-mini-advancing-cost-efficient-intelligence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4258-9DB7-8654-F575-44838FDCC4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LLM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8D6C6C-57E6-9613-58AD-2E3298D926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 in Healthcare</a:t>
            </a:r>
          </a:p>
        </p:txBody>
      </p:sp>
    </p:spTree>
    <p:extLst>
      <p:ext uri="{BB962C8B-B14F-4D97-AF65-F5344CB8AC3E}">
        <p14:creationId xmlns:p14="http://schemas.microsoft.com/office/powerpoint/2010/main" val="1837096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EB1C-557F-28E8-AB33-DFD05CD19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Problem: Inferring SNOMED Procedure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85DA3-FC6C-6487-86BE-5C21ABFA1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219657" cy="3678303"/>
          </a:xfrm>
        </p:spPr>
        <p:txBody>
          <a:bodyPr>
            <a:normAutofit/>
          </a:bodyPr>
          <a:lstStyle/>
          <a:p>
            <a:r>
              <a:rPr lang="en-US" dirty="0"/>
              <a:t>SNOMED offers a way for medical staff to code several medical concepts in a precise way, including diseases, symptoms, procedures, etc.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 if we could figure out the </a:t>
            </a:r>
            <a:r>
              <a:rPr lang="en-US" b="1" dirty="0"/>
              <a:t>SNOMED procedure coding </a:t>
            </a:r>
            <a:r>
              <a:rPr lang="en-US" dirty="0"/>
              <a:t>based on conditions or diagnoses associated with a patient?</a:t>
            </a:r>
            <a:br>
              <a:rPr lang="en-US" dirty="0"/>
            </a:br>
            <a:endParaRPr lang="en-US" dirty="0"/>
          </a:p>
          <a:p>
            <a:r>
              <a:rPr lang="en-US" dirty="0"/>
              <a:t>An LLM could be take in various patient data and infer potential procedures that could be useful for physicians to consider, or the patient to expect.</a:t>
            </a:r>
          </a:p>
        </p:txBody>
      </p:sp>
      <p:pic>
        <p:nvPicPr>
          <p:cNvPr id="1032" name="Picture 8" descr="Confluence Mobile - SNOMED Confluence">
            <a:extLst>
              <a:ext uri="{FF2B5EF4-FFF2-40B4-BE49-F238E27FC236}">
                <a16:creationId xmlns:a16="http://schemas.microsoft.com/office/drawing/2014/main" id="{53E3EFDF-6E40-314A-DD7D-F1155B0E9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1" r="1090" b="3"/>
          <a:stretch/>
        </p:blipFill>
        <p:spPr bwMode="auto">
          <a:xfrm>
            <a:off x="7337424" y="2094771"/>
            <a:ext cx="3683001" cy="450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99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3B80-C8C2-2142-1170-492F51B5E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6C313-87DD-C0A9-D944-4DB6B6B6A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3678303"/>
          </a:xfrm>
        </p:spPr>
        <p:txBody>
          <a:bodyPr/>
          <a:lstStyle/>
          <a:p>
            <a:r>
              <a:rPr lang="en-US" dirty="0"/>
              <a:t>The MIMIC III </a:t>
            </a:r>
            <a:r>
              <a:rPr lang="en-US" dirty="0" err="1"/>
              <a:t>notesevents</a:t>
            </a:r>
            <a:r>
              <a:rPr lang="en-US" dirty="0"/>
              <a:t> table provides several free text discharge summaries great for this task but data </a:t>
            </a:r>
            <a:r>
              <a:rPr lang="en-US" b="1" dirty="0"/>
              <a:t>cannot be shared</a:t>
            </a:r>
            <a:r>
              <a:rPr lang="en-US" dirty="0"/>
              <a:t>.</a:t>
            </a:r>
          </a:p>
          <a:p>
            <a:r>
              <a:rPr lang="en-US" dirty="0">
                <a:hlinkClick r:id="rId2"/>
              </a:rPr>
              <a:t>Synthea</a:t>
            </a:r>
            <a:r>
              <a:rPr lang="en-US" dirty="0"/>
              <a:t> by MITRE instead provides some synthetic patient data such as </a:t>
            </a:r>
            <a:r>
              <a:rPr lang="en-US" b="1" dirty="0"/>
              <a:t>conditions</a:t>
            </a:r>
            <a:r>
              <a:rPr lang="en-US" dirty="0"/>
              <a:t>, and </a:t>
            </a:r>
            <a:r>
              <a:rPr lang="en-US" b="1" dirty="0"/>
              <a:t>procedures</a:t>
            </a:r>
            <a:r>
              <a:rPr lang="en-US" dirty="0"/>
              <a:t> that we can use for similar in-context learning as we would with MIMIC notes</a:t>
            </a:r>
          </a:p>
          <a:p>
            <a:r>
              <a:rPr lang="en-US" dirty="0"/>
              <a:t>I used the Synthea </a:t>
            </a:r>
            <a:r>
              <a:rPr lang="en-US" b="1" dirty="0"/>
              <a:t>conditions</a:t>
            </a:r>
            <a:r>
              <a:rPr lang="en-US" dirty="0"/>
              <a:t> and </a:t>
            </a:r>
            <a:r>
              <a:rPr lang="en-US" b="1" dirty="0"/>
              <a:t>procedures</a:t>
            </a:r>
            <a:r>
              <a:rPr lang="en-US" dirty="0"/>
              <a:t> csv files to prompt a model to infer the top 5-10 potential SNOMED procedures for a visit given the conditions.</a:t>
            </a:r>
          </a:p>
        </p:txBody>
      </p:sp>
      <p:pic>
        <p:nvPicPr>
          <p:cNvPr id="2050" name="Picture 2" descr="Synthea">
            <a:extLst>
              <a:ext uri="{FF2B5EF4-FFF2-40B4-BE49-F238E27FC236}">
                <a16:creationId xmlns:a16="http://schemas.microsoft.com/office/drawing/2014/main" id="{5D76B6DA-6A13-1D67-6859-FDB670881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8613" y="1968046"/>
            <a:ext cx="38100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3276EA7-4792-DF96-279C-C88B94D64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099" y="2785286"/>
            <a:ext cx="4178300" cy="90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D8F16D3-E942-114A-5BD5-3DC58EA646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659" y="3995252"/>
            <a:ext cx="5249753" cy="991136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567F77D-F011-5C96-D44E-ED1ADE2783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645" y="5164708"/>
            <a:ext cx="5249754" cy="99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45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03AF2-5DA4-65EA-9FBD-DD7D6063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llm</a:t>
            </a:r>
            <a:r>
              <a:rPr lang="en-US" dirty="0"/>
              <a:t>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BD9D3-917D-F484-A228-09FE3DBE4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38569" cy="3678303"/>
          </a:xfrm>
        </p:spPr>
        <p:txBody>
          <a:bodyPr/>
          <a:lstStyle/>
          <a:p>
            <a:r>
              <a:rPr lang="en-US" dirty="0"/>
              <a:t>Initially I used </a:t>
            </a:r>
            <a:r>
              <a:rPr lang="en-US" dirty="0">
                <a:hlinkClick r:id="rId2"/>
              </a:rPr>
              <a:t>PMC Llama 13B</a:t>
            </a:r>
            <a:r>
              <a:rPr lang="en-US" dirty="0"/>
              <a:t>, but the model size and inference times were too much for </a:t>
            </a:r>
            <a:r>
              <a:rPr lang="en-US" dirty="0" err="1"/>
              <a:t>Colab</a:t>
            </a:r>
            <a:br>
              <a:rPr lang="en-US" dirty="0"/>
            </a:br>
            <a:endParaRPr lang="en-US" dirty="0"/>
          </a:p>
          <a:p>
            <a:r>
              <a:rPr lang="en-US" dirty="0"/>
              <a:t>Smaller 1B parameter models such as </a:t>
            </a:r>
            <a:r>
              <a:rPr lang="en-US" dirty="0">
                <a:hlinkClick r:id="rId3"/>
              </a:rPr>
              <a:t>BioGPT</a:t>
            </a:r>
            <a:r>
              <a:rPr lang="en-US" dirty="0"/>
              <a:t> were faster but did not have nearly as much knowledge leading to weaker output</a:t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4"/>
              </a:rPr>
              <a:t>OpenAI’s 4o-mini </a:t>
            </a:r>
            <a:r>
              <a:rPr lang="en-US" dirty="0"/>
              <a:t>had much faster inference, lower cost, and provided strong answers for my prompts, so this model was used</a:t>
            </a:r>
          </a:p>
        </p:txBody>
      </p:sp>
      <p:pic>
        <p:nvPicPr>
          <p:cNvPr id="3074" name="Picture 2" descr="Finetuning LLaMA on Medical Papers: Meet PMC-LLaMA-A Model that Achieves  High Performance on Biomedical QA Benchmarks - MarkTechPost">
            <a:extLst>
              <a:ext uri="{FF2B5EF4-FFF2-40B4-BE49-F238E27FC236}">
                <a16:creationId xmlns:a16="http://schemas.microsoft.com/office/drawing/2014/main" id="{329EB8B1-1F86-D4B2-08A6-870EE14FB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762" y="1854748"/>
            <a:ext cx="6243638" cy="244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utoblogging with OpenAI's GPT-4o mini – CyberSEO Pro">
            <a:extLst>
              <a:ext uri="{FF2B5EF4-FFF2-40B4-BE49-F238E27FC236}">
                <a16:creationId xmlns:a16="http://schemas.microsoft.com/office/drawing/2014/main" id="{8C26511F-C20B-EC71-4012-45A7B890E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7440" y="4439778"/>
            <a:ext cx="1704975" cy="170497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What is BioGPT and what does it mean ...">
            <a:extLst>
              <a:ext uri="{FF2B5EF4-FFF2-40B4-BE49-F238E27FC236}">
                <a16:creationId xmlns:a16="http://schemas.microsoft.com/office/drawing/2014/main" id="{A5F16A26-75C7-1C40-C558-81F8E10A4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362" y="4479581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69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7154-5539-D0AF-32DA-1C558CFB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Synthea Data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A24B-FFBF-F3DB-80D3-11E07C05A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286786" cy="3975348"/>
          </a:xfrm>
        </p:spPr>
        <p:txBody>
          <a:bodyPr/>
          <a:lstStyle/>
          <a:p>
            <a:r>
              <a:rPr lang="en-US" dirty="0"/>
              <a:t>Synthea data is provided as multiple csv files, however only </a:t>
            </a:r>
            <a:r>
              <a:rPr lang="en-US" b="1" dirty="0"/>
              <a:t>conditions</a:t>
            </a:r>
            <a:r>
              <a:rPr lang="en-US" dirty="0"/>
              <a:t> and </a:t>
            </a:r>
            <a:r>
              <a:rPr lang="en-US" b="1" dirty="0"/>
              <a:t>procedures</a:t>
            </a:r>
            <a:r>
              <a:rPr lang="en-US" dirty="0"/>
              <a:t> are relevant for this problem</a:t>
            </a:r>
          </a:p>
          <a:p>
            <a:r>
              <a:rPr lang="en-US" dirty="0"/>
              <a:t>We can see there are </a:t>
            </a:r>
            <a:r>
              <a:rPr lang="en-US" i="1" dirty="0"/>
              <a:t>17,000+ </a:t>
            </a:r>
            <a:r>
              <a:rPr lang="en-US" dirty="0"/>
              <a:t>procedures and nearly </a:t>
            </a:r>
            <a:r>
              <a:rPr lang="en-US" i="1" dirty="0"/>
              <a:t>4,000</a:t>
            </a:r>
            <a:r>
              <a:rPr lang="en-US" dirty="0"/>
              <a:t> conditions but there could be multiple rows per encounter</a:t>
            </a:r>
          </a:p>
          <a:p>
            <a:r>
              <a:rPr lang="en-US" dirty="0"/>
              <a:t>Procedures gives us the SNOMED </a:t>
            </a:r>
            <a:r>
              <a:rPr lang="en-US" b="1" dirty="0"/>
              <a:t>code</a:t>
            </a:r>
            <a:r>
              <a:rPr lang="en-US" dirty="0"/>
              <a:t> as well as the </a:t>
            </a:r>
            <a:r>
              <a:rPr lang="en-US" b="1" dirty="0"/>
              <a:t>description </a:t>
            </a:r>
            <a:r>
              <a:rPr lang="en-US" dirty="0"/>
              <a:t>which will be important for the model</a:t>
            </a:r>
            <a:endParaRPr lang="en-US" b="1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C52707-E338-DEAE-8BCF-71203503B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692" y="1946701"/>
            <a:ext cx="4008435" cy="4209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940143-C400-4F16-E814-BB66E62FB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550" y="2212120"/>
            <a:ext cx="2622571" cy="36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68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2BD05-87FA-FB8E-9319-DB473F734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Synthea data analysis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2F2C4-4436-F678-3EB0-0E68EB5FF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077893" cy="3678303"/>
          </a:xfrm>
        </p:spPr>
        <p:txBody>
          <a:bodyPr/>
          <a:lstStyle/>
          <a:p>
            <a:r>
              <a:rPr lang="en-US" dirty="0"/>
              <a:t>If we group the conditions by patients and encounters we see that there only around 100 unique patients and 2.5k encounters</a:t>
            </a:r>
          </a:p>
          <a:p>
            <a:r>
              <a:rPr lang="en-US" dirty="0"/>
              <a:t>Ordering conditions shows that the data contain many </a:t>
            </a:r>
            <a:r>
              <a:rPr lang="en-US" i="1" dirty="0"/>
              <a:t>Medication review due</a:t>
            </a:r>
            <a:r>
              <a:rPr lang="en-US" dirty="0"/>
              <a:t>, </a:t>
            </a:r>
            <a:r>
              <a:rPr lang="en-US" i="1" dirty="0"/>
              <a:t>Gingivitis</a:t>
            </a:r>
            <a:r>
              <a:rPr lang="en-US" dirty="0"/>
              <a:t>, and </a:t>
            </a:r>
            <a:r>
              <a:rPr lang="en-US" i="1" dirty="0"/>
              <a:t>Stress</a:t>
            </a:r>
          </a:p>
          <a:p>
            <a:r>
              <a:rPr lang="en-US" dirty="0"/>
              <a:t>Ordering procedures shows frequent </a:t>
            </a:r>
            <a:r>
              <a:rPr lang="en-US" i="1" dirty="0"/>
              <a:t>Depression Screening</a:t>
            </a:r>
            <a:r>
              <a:rPr lang="en-US" dirty="0"/>
              <a:t>, </a:t>
            </a:r>
            <a:r>
              <a:rPr lang="en-US" i="1" dirty="0"/>
              <a:t>Renal Dialysis</a:t>
            </a:r>
            <a:r>
              <a:rPr lang="en-US" dirty="0"/>
              <a:t>, and </a:t>
            </a:r>
            <a:r>
              <a:rPr lang="en-US" i="1" dirty="0"/>
              <a:t>Assessment of health and social care needs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C30692-1B9F-BC4F-CC02-3A29F1730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893" y="3282772"/>
            <a:ext cx="3764904" cy="3116610"/>
          </a:xfrm>
          <a:prstGeom prst="rect">
            <a:avLst/>
          </a:prstGeom>
        </p:spPr>
      </p:pic>
      <p:pic>
        <p:nvPicPr>
          <p:cNvPr id="5" name="Picture 4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09965C2D-531C-84E5-BEB0-211EA9D9E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345" y="2276297"/>
            <a:ext cx="3962401" cy="201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26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47BD-5FAF-FE1D-54DF-F17464FD7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1EDE0-E7E4-A9B1-CB5C-226E44292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788198" cy="3678303"/>
          </a:xfrm>
        </p:spPr>
        <p:txBody>
          <a:bodyPr/>
          <a:lstStyle/>
          <a:p>
            <a:r>
              <a:rPr lang="en-US" dirty="0"/>
              <a:t>For prompting and evaluation, unique encounters must be mapped to their associated conditions and procedures</a:t>
            </a:r>
          </a:p>
          <a:p>
            <a:r>
              <a:rPr lang="en-US" dirty="0"/>
              <a:t>Ex. One encounter can have many conditions and many procedures, all of which provide context for the LLM prediction</a:t>
            </a:r>
          </a:p>
          <a:p>
            <a:r>
              <a:rPr lang="en-US" dirty="0"/>
              <a:t>Based on the plot, there are typically 1-2 conditions per encounter whereas the number procedures varies quite a bit.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0B3137-614E-74D2-3FDD-38D22E2A8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391" y="1851672"/>
            <a:ext cx="3538670" cy="269528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F04E8E-73CA-C74A-2B62-6533D204A4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907"/>
          <a:stretch/>
        </p:blipFill>
        <p:spPr>
          <a:xfrm>
            <a:off x="8908061" y="1843548"/>
            <a:ext cx="2601260" cy="27034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E2A558-D94F-82EA-1040-B132AE0A2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546959"/>
            <a:ext cx="4841054" cy="199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78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831B-A6EF-9AC2-D2B8-8BABFAD2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Prompting (Zero/few shot)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BC199-EFF7-9B78-2BA9-95B6C1921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807611" cy="3678303"/>
          </a:xfrm>
        </p:spPr>
        <p:txBody>
          <a:bodyPr>
            <a:normAutofit/>
          </a:bodyPr>
          <a:lstStyle/>
          <a:p>
            <a:r>
              <a:rPr lang="en-US" dirty="0"/>
              <a:t>4 prompts were tried against 4o-mini: </a:t>
            </a:r>
            <a:r>
              <a:rPr lang="en-US" i="1" dirty="0"/>
              <a:t>zero-shot</a:t>
            </a:r>
            <a:r>
              <a:rPr lang="en-US" dirty="0"/>
              <a:t>, </a:t>
            </a:r>
            <a:r>
              <a:rPr lang="en-US" i="1" dirty="0"/>
              <a:t>few shot</a:t>
            </a:r>
            <a:r>
              <a:rPr lang="en-US" dirty="0"/>
              <a:t>, </a:t>
            </a:r>
            <a:r>
              <a:rPr lang="en-US" i="1" dirty="0"/>
              <a:t>Chain of Thought</a:t>
            </a:r>
            <a:r>
              <a:rPr lang="en-US" dirty="0"/>
              <a:t>, and </a:t>
            </a:r>
            <a:r>
              <a:rPr lang="en-US" i="1" dirty="0"/>
              <a:t>Tree of Thought</a:t>
            </a:r>
            <a:br>
              <a:rPr lang="en-US" dirty="0"/>
            </a:br>
            <a:endParaRPr lang="en-US" dirty="0"/>
          </a:p>
          <a:p>
            <a:r>
              <a:rPr lang="en-US" dirty="0"/>
              <a:t>For zero-shot, no examples were provided to the model, only a detailed prompt about what the model should produce.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few-shot prompt was identical except that it included 3 hard coded examples.</a:t>
            </a:r>
          </a:p>
        </p:txBody>
      </p:sp>
      <p:pic>
        <p:nvPicPr>
          <p:cNvPr id="17" name="Picture 1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6807D8C-C3E5-6FAC-7A3F-4EF1E2E5D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48" y="4480659"/>
            <a:ext cx="1777445" cy="2029960"/>
          </a:xfrm>
          <a:prstGeom prst="rect">
            <a:avLst/>
          </a:prstGeom>
        </p:spPr>
      </p:pic>
      <p:pic>
        <p:nvPicPr>
          <p:cNvPr id="19" name="Picture 18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95AC45CE-B11C-FAC0-B74C-33189C6E5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870" y="4292600"/>
            <a:ext cx="2968312" cy="2218019"/>
          </a:xfrm>
          <a:prstGeom prst="rect">
            <a:avLst/>
          </a:prstGeom>
        </p:spPr>
      </p:pic>
      <p:pic>
        <p:nvPicPr>
          <p:cNvPr id="15" name="Picture 1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02D8902-CA06-8FC7-32AA-6587EC7CC2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776"/>
          <a:stretch/>
        </p:blipFill>
        <p:spPr>
          <a:xfrm>
            <a:off x="10266759" y="4893393"/>
            <a:ext cx="1777445" cy="1617226"/>
          </a:xfrm>
          <a:prstGeom prst="rect">
            <a:avLst/>
          </a:prstGeom>
        </p:spPr>
      </p:pic>
      <p:pic>
        <p:nvPicPr>
          <p:cNvPr id="21" name="Picture 20" descr="A computer screen with text and images&#10;&#10;AI-generated content may be incorrect.">
            <a:extLst>
              <a:ext uri="{FF2B5EF4-FFF2-40B4-BE49-F238E27FC236}">
                <a16:creationId xmlns:a16="http://schemas.microsoft.com/office/drawing/2014/main" id="{371058C0-CE54-39A7-A779-E26904C14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2870" y="1989437"/>
            <a:ext cx="3333597" cy="202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42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B4A3-FD0E-6AAC-D182-3F88C81C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Prompting (Chain of thought)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C0409-8F62-7B03-7812-775066D18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89" y="4473778"/>
            <a:ext cx="3512363" cy="1666433"/>
          </a:xfrm>
        </p:spPr>
        <p:txBody>
          <a:bodyPr>
            <a:normAutofit/>
          </a:bodyPr>
          <a:lstStyle/>
          <a:p>
            <a:r>
              <a:rPr lang="en-US" dirty="0"/>
              <a:t>The chain of thought prompt included reasoning steps for deducing the SNOMED code </a:t>
            </a:r>
          </a:p>
        </p:txBody>
      </p:sp>
      <p:pic>
        <p:nvPicPr>
          <p:cNvPr id="15" name="Picture 1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C7B0D6D-A30E-7E0D-B16A-287143423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38" y="1896334"/>
            <a:ext cx="5243407" cy="2577444"/>
          </a:xfrm>
          <a:prstGeom prst="rect">
            <a:avLst/>
          </a:prstGeom>
        </p:spPr>
      </p:pic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C9404BB-967E-ED63-A149-4BED70BC0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597" y="2869889"/>
            <a:ext cx="3802806" cy="2745422"/>
          </a:xfrm>
          <a:prstGeom prst="rect">
            <a:avLst/>
          </a:prstGeom>
        </p:spPr>
      </p:pic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E6FF942-80F0-2100-9687-D0EFA3AE2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094" y="3465738"/>
            <a:ext cx="4466714" cy="322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44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540F-17C8-B0EC-2C03-174B7CB4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Prompting (Tree of thought)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38C3-827E-1A70-4E25-02647BEB4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5062408"/>
            <a:ext cx="5051494" cy="1956075"/>
          </a:xfrm>
        </p:spPr>
        <p:txBody>
          <a:bodyPr/>
          <a:lstStyle/>
          <a:p>
            <a:r>
              <a:rPr lang="en-US" dirty="0"/>
              <a:t>The tree of thought prompt was like </a:t>
            </a:r>
            <a:r>
              <a:rPr lang="en-US" dirty="0" err="1"/>
              <a:t>CoT</a:t>
            </a:r>
            <a:r>
              <a:rPr lang="en-US" dirty="0"/>
              <a:t>, but included different reasoning paths.</a:t>
            </a:r>
          </a:p>
        </p:txBody>
      </p:sp>
      <p:pic>
        <p:nvPicPr>
          <p:cNvPr id="15" name="Picture 1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650C491-0066-AED1-3072-A5F25D3AF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47" y="1879901"/>
            <a:ext cx="3854216" cy="2782537"/>
          </a:xfrm>
          <a:prstGeom prst="rect">
            <a:avLst/>
          </a:prstGeom>
        </p:spPr>
      </p:pic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457BDF9-2986-0A76-B72F-010EF43F5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2948840"/>
            <a:ext cx="3477351" cy="2510461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F3EE16-27E5-85D8-73B0-C068AF467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315" y="4089289"/>
            <a:ext cx="5134938" cy="25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51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50B9F-6FF0-CF50-A8E3-126BAC084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through OpenAI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8F5B2-8F86-9370-D70B-1563A6590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922693" cy="2175697"/>
          </a:xfrm>
        </p:spPr>
        <p:txBody>
          <a:bodyPr/>
          <a:lstStyle/>
          <a:p>
            <a:r>
              <a:rPr lang="en-US" dirty="0"/>
              <a:t>A sample of a random sampling of 100 unique encounter ids are selected and sent with each prompt type in a loop to OpenAI’s 4o-mini model over their public API.</a:t>
            </a:r>
          </a:p>
          <a:p>
            <a:r>
              <a:rPr lang="en-US" dirty="0"/>
              <a:t>Because OpenAI’s inference costs are so low, multiple runs on the sample with all prompts only totals out to around $0.30</a:t>
            </a:r>
          </a:p>
          <a:p>
            <a:endParaRPr lang="en-US" dirty="0"/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57F6D8D-9441-A316-4075-EC2EC40CB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115" y="4394302"/>
            <a:ext cx="4611914" cy="2175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52773C-C00F-F9FD-E54A-487E8D186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173" y="2727188"/>
            <a:ext cx="3234635" cy="384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987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3B9A-1C1A-1774-C448-283FA1DF7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384D4-7409-E14E-AFD5-CD654575F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286207" cy="3678303"/>
          </a:xfrm>
        </p:spPr>
        <p:txBody>
          <a:bodyPr/>
          <a:lstStyle/>
          <a:p>
            <a:r>
              <a:rPr lang="en-US" dirty="0"/>
              <a:t>Inference results were written in JSON format with useful context and saved to individual files for each prompt style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JSON format results are easy to manually review, and share, plus there was much less of a risk losing the output if memory was reset by mistake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B672722-03EC-63A2-61BC-D90AF4FF9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575" y="4598289"/>
            <a:ext cx="4336997" cy="2136197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4E4FD04-5F8A-B19C-950B-731C3EA90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9440"/>
            <a:ext cx="4384771" cy="273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14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E8A7-9D61-D8BA-D97C-CEE96A75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83A37-4400-3C78-346C-D6AED6CF1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351980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each prompting strategy average </a:t>
            </a:r>
            <a:r>
              <a:rPr lang="en-US" b="1" dirty="0"/>
              <a:t>precision</a:t>
            </a:r>
            <a:r>
              <a:rPr lang="en-US" dirty="0"/>
              <a:t>, </a:t>
            </a:r>
            <a:r>
              <a:rPr lang="en-US" b="1" dirty="0"/>
              <a:t>recall</a:t>
            </a:r>
            <a:r>
              <a:rPr lang="en-US" dirty="0"/>
              <a:t>, and </a:t>
            </a:r>
            <a:r>
              <a:rPr lang="en-US" b="1" dirty="0"/>
              <a:t>f1 score</a:t>
            </a:r>
            <a:r>
              <a:rPr lang="en-US" dirty="0"/>
              <a:t> were calculated based on </a:t>
            </a:r>
            <a:r>
              <a:rPr lang="en-US" b="1" dirty="0" err="1"/>
              <a:t>jaccard</a:t>
            </a:r>
            <a:r>
              <a:rPr lang="en-US" b="1" dirty="0"/>
              <a:t> similarity </a:t>
            </a:r>
            <a:r>
              <a:rPr lang="en-US" dirty="0"/>
              <a:t>of the predicted procedure words vs the actual procedure words.</a:t>
            </a:r>
          </a:p>
          <a:p>
            <a:r>
              <a:rPr lang="en-US" dirty="0"/>
              <a:t>Overall scores were </a:t>
            </a:r>
            <a:r>
              <a:rPr lang="en-US" b="1" dirty="0"/>
              <a:t>very low</a:t>
            </a:r>
            <a:r>
              <a:rPr lang="en-US" dirty="0"/>
              <a:t>, the model gave relevant and meaningful recommendations, but they typically did not match Synthea’s</a:t>
            </a:r>
          </a:p>
          <a:p>
            <a:r>
              <a:rPr lang="en-US" dirty="0"/>
              <a:t>With more detailed and realistic patient data (like that in MIMIC) predictions could have much higher accuracy</a:t>
            </a:r>
          </a:p>
          <a:p>
            <a:r>
              <a:rPr lang="en-US" b="1" dirty="0"/>
              <a:t>few shot </a:t>
            </a:r>
            <a:r>
              <a:rPr lang="en-US" dirty="0"/>
              <a:t>performed the best with the evaluation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846EA2-E67B-1540-F5BE-07757F63A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225" y="1936750"/>
            <a:ext cx="3345099" cy="2495550"/>
          </a:xfrm>
          <a:prstGeom prst="rect">
            <a:avLst/>
          </a:prstGeom>
        </p:spPr>
      </p:pic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137AABF-1E36-2423-61BD-909A30FF2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7342" y="4432300"/>
            <a:ext cx="2839261" cy="2190698"/>
          </a:xfrm>
          <a:prstGeom prst="rect">
            <a:avLst/>
          </a:prstGeom>
        </p:spPr>
      </p:pic>
      <p:pic>
        <p:nvPicPr>
          <p:cNvPr id="8" name="Picture 7" descr="A computer screen shot of code&#10;&#10;AI-generated content may be incorrect.">
            <a:extLst>
              <a:ext uri="{FF2B5EF4-FFF2-40B4-BE49-F238E27FC236}">
                <a16:creationId xmlns:a16="http://schemas.microsoft.com/office/drawing/2014/main" id="{01CF7FC3-E36F-CD73-128F-C06B9AA67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173" y="4432300"/>
            <a:ext cx="3003780" cy="213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48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ED6E-5DC2-AC35-D8AD-7CCC9D3AA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Takeaways/improvement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81F4F-8266-F5A0-1459-29D6FFF48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3678303"/>
          </a:xfrm>
        </p:spPr>
        <p:txBody>
          <a:bodyPr/>
          <a:lstStyle/>
          <a:p>
            <a:r>
              <a:rPr lang="en-US" dirty="0"/>
              <a:t>LLMs are extremely powerful but come at the cost of expensive inference and demanding compute requirements</a:t>
            </a:r>
          </a:p>
          <a:p>
            <a:r>
              <a:rPr lang="en-US" dirty="0"/>
              <a:t>Large AI/Tech companies expose these LLMs at both low latency and cost, which can be an accelerator for research</a:t>
            </a:r>
          </a:p>
          <a:p>
            <a:r>
              <a:rPr lang="en-US" dirty="0"/>
              <a:t>Synthetic data is helpful but ultimately limiting as it does not reflect the diversity and richness of real data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EF546E-8219-1096-7F50-D7B3D66F02BB}"/>
              </a:ext>
            </a:extLst>
          </p:cNvPr>
          <p:cNvSpPr txBox="1">
            <a:spLocks/>
          </p:cNvSpPr>
          <p:nvPr/>
        </p:nvSpPr>
        <p:spPr>
          <a:xfrm>
            <a:off x="6095999" y="2180495"/>
            <a:ext cx="5514808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With more funding or compute it would be interesting to try using MIMIC based prompts into a larger 7B or 15B healthcare-specific model such as PMC-Llama</a:t>
            </a:r>
          </a:p>
          <a:p>
            <a:r>
              <a:rPr lang="en-US" dirty="0"/>
              <a:t>One other idea I had is to give MIMIC </a:t>
            </a:r>
            <a:r>
              <a:rPr lang="en-US" dirty="0" err="1"/>
              <a:t>noteevents</a:t>
            </a:r>
            <a:r>
              <a:rPr lang="en-US" dirty="0"/>
              <a:t> data (and possible other tables) as input and use prompting to predict ICD9 procedure codes, but restrictions on data and lack of compute for more powerful models on </a:t>
            </a:r>
            <a:r>
              <a:rPr lang="en-US" dirty="0" err="1"/>
              <a:t>Colab</a:t>
            </a:r>
            <a:r>
              <a:rPr lang="en-US" dirty="0"/>
              <a:t> forced me to descope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777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6622</TotalTime>
  <Words>839</Words>
  <Application>Microsoft Macintosh PowerPoint</Application>
  <PresentationFormat>Widescreen</PresentationFormat>
  <Paragraphs>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Wingdings 2</vt:lpstr>
      <vt:lpstr>Dividend</vt:lpstr>
      <vt:lpstr>LLM Tutorial</vt:lpstr>
      <vt:lpstr>Problem: Inferring SNOMED Procedure codes</vt:lpstr>
      <vt:lpstr>Dataset</vt:lpstr>
      <vt:lpstr>llm approach</vt:lpstr>
      <vt:lpstr>Synthea Data analysis</vt:lpstr>
      <vt:lpstr>Synthea data analysis (cont.)</vt:lpstr>
      <vt:lpstr>Data transformation</vt:lpstr>
      <vt:lpstr>Prompting (Zero/few shot)</vt:lpstr>
      <vt:lpstr>Prompting (Chain of thought)</vt:lpstr>
      <vt:lpstr>Prompting (Tree of thought)</vt:lpstr>
      <vt:lpstr>Inference through OpenAI API</vt:lpstr>
      <vt:lpstr>Results</vt:lpstr>
      <vt:lpstr>Evaluation</vt:lpstr>
      <vt:lpstr>Takeaways/improvement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 McCormack</dc:creator>
  <cp:lastModifiedBy>Owen McCormack</cp:lastModifiedBy>
  <cp:revision>17</cp:revision>
  <dcterms:created xsi:type="dcterms:W3CDTF">2025-03-23T21:03:05Z</dcterms:created>
  <dcterms:modified xsi:type="dcterms:W3CDTF">2025-03-28T11:25:52Z</dcterms:modified>
</cp:coreProperties>
</file>