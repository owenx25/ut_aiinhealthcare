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7"/>
  </p:normalViewPr>
  <p:slideViewPr>
    <p:cSldViewPr snapToGrid="0">
      <p:cViewPr varScale="1">
        <p:scale>
          <a:sx n="87" d="100"/>
          <a:sy n="87" d="100"/>
        </p:scale>
        <p:origin x="153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4633969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s://arxiv.org/abs/1106.181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mbalanced-learn.org/stable/" TargetMode="External"/><Relationship Id="rId5" Type="http://schemas.openxmlformats.org/officeDocument/2006/relationships/hyperlink" Target="https://dl.acm.org/doi/10.1145/1007730.1007735" TargetMode="External"/><Relationship Id="rId4" Type="http://schemas.openxmlformats.org/officeDocument/2006/relationships/hyperlink" Target="https://www.researchgate.net/publication/346282224_SMOTE-ENN-Based_Data_Sampling_and_Improved_Dynamic_Ensemble_Selection_for_Imbalanced_Medical_Data_Classificati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cikit-learn.org/stable/modules/generated/sklearn.model_selection.GridSearchCV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410B-4B9D-1D5A-1BC1-E74580848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ML/DL Tutorial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55E3A-9FD9-8F21-BAE3-176E80497D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AI in HealthCare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7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206A-5C93-413A-4BC9-2B9891AA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Breathing tubes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F9AEDB-8302-0FED-E1C0-A2F4105CD111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722507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ICD9 code </a:t>
            </a:r>
            <a:r>
              <a:rPr lang="en-US" i="1" dirty="0"/>
              <a:t>96.04</a:t>
            </a:r>
            <a:r>
              <a:rPr lang="en-US" dirty="0"/>
              <a:t> refers to the Insertion of endotracheal tube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emergency situations such as respiratory failure, a patient might not be able to breath on their own and requires this procedure.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Breathing tubes are used in surgeries when a patient is under Anesthesia and cannot breathe on their own.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Can we use MIMIC data to predict a patient's need for the procedure? There are 10,000+ procedure codes for </a:t>
            </a:r>
            <a:r>
              <a:rPr lang="en-US" i="1" dirty="0"/>
              <a:t>96.04</a:t>
            </a:r>
            <a:r>
              <a:rPr lang="en-US" dirty="0"/>
              <a:t> in MIMIC III</a:t>
            </a:r>
          </a:p>
        </p:txBody>
      </p:sp>
      <p:pic>
        <p:nvPicPr>
          <p:cNvPr id="1030" name="Picture 6" descr="Breathing Tube Medical Mistakes | Gray Ritter Graham">
            <a:extLst>
              <a:ext uri="{FF2B5EF4-FFF2-40B4-BE49-F238E27FC236}">
                <a16:creationId xmlns:a16="http://schemas.microsoft.com/office/drawing/2014/main" id="{43652512-7B7A-9073-5B4F-86E15C4FD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37" b="2"/>
          <a:stretch/>
        </p:blipFill>
        <p:spPr bwMode="auto">
          <a:xfrm>
            <a:off x="8051799" y="1892627"/>
            <a:ext cx="3699935" cy="220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ow does ventilation therapy for respiratory problems work?">
            <a:extLst>
              <a:ext uri="{FF2B5EF4-FFF2-40B4-BE49-F238E27FC236}">
                <a16:creationId xmlns:a16="http://schemas.microsoft.com/office/drawing/2014/main" id="{00A64E54-DE69-4EDF-CFD7-2DCB893D5C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9" r="2" b="4701"/>
          <a:stretch/>
        </p:blipFill>
        <p:spPr bwMode="auto">
          <a:xfrm>
            <a:off x="8051799" y="4187827"/>
            <a:ext cx="3699935" cy="220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74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0FF4-531B-DBAD-C539-5A1AC14E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from Mimic Tables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2FF4-C86F-B14B-BC40-BEDD75C8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81259"/>
            <a:ext cx="5052692" cy="3485251"/>
          </a:xfrm>
        </p:spPr>
        <p:txBody>
          <a:bodyPr anchor="t" anchorCtr="0">
            <a:normAutofit/>
          </a:bodyPr>
          <a:lstStyle/>
          <a:p>
            <a:r>
              <a:rPr lang="en-US" i="1" dirty="0"/>
              <a:t>ADMISSIONS </a:t>
            </a:r>
            <a:r>
              <a:rPr lang="en-US" dirty="0"/>
              <a:t>provides features specific to the patient’s </a:t>
            </a:r>
            <a:r>
              <a:rPr lang="en-US" b="1" dirty="0"/>
              <a:t>diagnosis</a:t>
            </a:r>
            <a:r>
              <a:rPr lang="en-US" dirty="0"/>
              <a:t>, </a:t>
            </a:r>
            <a:r>
              <a:rPr lang="en-US" b="1" dirty="0"/>
              <a:t>insurance</a:t>
            </a:r>
            <a:r>
              <a:rPr lang="en-US" dirty="0"/>
              <a:t>, </a:t>
            </a:r>
            <a:r>
              <a:rPr lang="en-US" b="1" dirty="0"/>
              <a:t>ethnicity</a:t>
            </a:r>
            <a:r>
              <a:rPr lang="en-US" dirty="0"/>
              <a:t>, </a:t>
            </a:r>
            <a:r>
              <a:rPr lang="en-US" b="1" dirty="0"/>
              <a:t>admission type </a:t>
            </a:r>
            <a:r>
              <a:rPr lang="en-US" dirty="0"/>
              <a:t>and </a:t>
            </a:r>
            <a:r>
              <a:rPr lang="en-US" b="1" dirty="0"/>
              <a:t>admission location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With</a:t>
            </a:r>
            <a:r>
              <a:rPr lang="en-US" i="1" dirty="0"/>
              <a:t> PATIENTS</a:t>
            </a:r>
            <a:r>
              <a:rPr lang="en-US" dirty="0"/>
              <a:t> columns we can determine the patient’s </a:t>
            </a:r>
            <a:r>
              <a:rPr lang="en-US" b="1" dirty="0"/>
              <a:t>age</a:t>
            </a:r>
            <a:r>
              <a:rPr lang="en-US" dirty="0"/>
              <a:t> and </a:t>
            </a:r>
            <a:r>
              <a:rPr lang="en-US" b="1" dirty="0"/>
              <a:t>gender</a:t>
            </a:r>
            <a:br>
              <a:rPr lang="en-US" dirty="0"/>
            </a:br>
            <a:endParaRPr lang="en-US" i="1" dirty="0"/>
          </a:p>
          <a:p>
            <a:r>
              <a:rPr lang="en-US" i="1" dirty="0"/>
              <a:t>PROCEDURES</a:t>
            </a:r>
            <a:r>
              <a:rPr lang="en-US" dirty="0"/>
              <a:t> provides the target column, </a:t>
            </a:r>
            <a:r>
              <a:rPr lang="en-US" b="1" i="1" dirty="0" err="1"/>
              <a:t>breathing_tube_inserted</a:t>
            </a:r>
            <a:r>
              <a:rPr lang="en-US" i="1" dirty="0"/>
              <a:t>, </a:t>
            </a:r>
            <a:r>
              <a:rPr lang="en-US" dirty="0"/>
              <a:t>which is determined by seeing if the patient had a </a:t>
            </a:r>
            <a:r>
              <a:rPr lang="en-US" i="1" dirty="0"/>
              <a:t>96.04 </a:t>
            </a:r>
            <a:r>
              <a:rPr lang="en-US" dirty="0"/>
              <a:t>procedure.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1CBD84-F8F4-E11F-993E-447C7F63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298" y="2381258"/>
            <a:ext cx="6007510" cy="348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0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BBC6-A6D9-A87F-9D45-633BE50A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from Mimic Tables (code)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BC0D4AE-D566-DF15-E83B-95FBFE55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380" y="3569009"/>
            <a:ext cx="6961239" cy="1532512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FE7BFC8-0C44-5AEF-ADEB-306FE3ABA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9" y="1857951"/>
            <a:ext cx="5751871" cy="1626575"/>
          </a:xfrm>
          <a:prstGeom prst="rect">
            <a:avLst/>
          </a:prstGeom>
        </p:spPr>
      </p:pic>
      <p:pic>
        <p:nvPicPr>
          <p:cNvPr id="13" name="Content Placeholder 12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F9E128A9-3285-3261-9F5E-C57EBE7E8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30948"/>
          <a:stretch/>
        </p:blipFill>
        <p:spPr>
          <a:xfrm>
            <a:off x="6879510" y="5142045"/>
            <a:ext cx="5056851" cy="1579290"/>
          </a:xfrm>
        </p:spPr>
      </p:pic>
    </p:spTree>
    <p:extLst>
      <p:ext uri="{BB962C8B-B14F-4D97-AF65-F5344CB8AC3E}">
        <p14:creationId xmlns:p14="http://schemas.microsoft.com/office/powerpoint/2010/main" val="428864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B0E45-9E7C-FEEB-78C6-A938742F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C9E14-C4C7-E408-3358-16E413FBB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750985"/>
            <a:ext cx="3353378" cy="3841511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Age thresholds</a:t>
            </a:r>
            <a:r>
              <a:rPr lang="en-US" sz="1500" dirty="0"/>
              <a:t>, ex. </a:t>
            </a:r>
            <a:r>
              <a:rPr lang="en-US" sz="1500" i="1" dirty="0"/>
              <a:t>age_over_65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Diagnosis</a:t>
            </a:r>
            <a:r>
              <a:rPr lang="en-US" sz="1500" dirty="0"/>
              <a:t> for specific conditions, ex. </a:t>
            </a:r>
            <a:r>
              <a:rPr lang="en-US" sz="1500" i="1" dirty="0"/>
              <a:t>diagnosis_pneumonia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Age + Diagnosis </a:t>
            </a:r>
            <a:r>
              <a:rPr lang="en-US" sz="1500" dirty="0"/>
              <a:t>features, ex. </a:t>
            </a:r>
            <a:r>
              <a:rPr lang="en-US" sz="1500" i="1" dirty="0"/>
              <a:t>elderly_emergency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Broader ethnic groups</a:t>
            </a:r>
            <a:r>
              <a:rPr lang="en-US" sz="1500" dirty="0"/>
              <a:t>, ex. </a:t>
            </a:r>
            <a:r>
              <a:rPr lang="en-US" sz="1500" i="1" dirty="0"/>
              <a:t>ethinicity_asian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Combinations of diagnosis</a:t>
            </a:r>
            <a:r>
              <a:rPr lang="en-US" sz="1500" dirty="0"/>
              <a:t>, ex </a:t>
            </a:r>
            <a:r>
              <a:rPr lang="en-US" sz="1500" i="1" dirty="0"/>
              <a:t>severe_illness_diagnosis, respiratory_diagnosis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5BAD1E-B2D6-630B-AB28-CEE676DA4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88" b="1"/>
          <a:stretch/>
        </p:blipFill>
        <p:spPr>
          <a:xfrm>
            <a:off x="8664701" y="2094559"/>
            <a:ext cx="3188364" cy="4497938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F4718E-95A4-F16D-0C65-602BB96C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" t="3376" r="19437" b="2497"/>
          <a:stretch/>
        </p:blipFill>
        <p:spPr>
          <a:xfrm>
            <a:off x="4014739" y="2750985"/>
            <a:ext cx="4484948" cy="384449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12807F-7B42-913A-E5E1-B70C669D1E1E}"/>
              </a:ext>
            </a:extLst>
          </p:cNvPr>
          <p:cNvSpPr txBox="1">
            <a:spLocks/>
          </p:cNvSpPr>
          <p:nvPr/>
        </p:nvSpPr>
        <p:spPr>
          <a:xfrm>
            <a:off x="661361" y="2197017"/>
            <a:ext cx="7064890" cy="4376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500" dirty="0"/>
              <a:t>Beyond raw feature data, other combined and calculated columns could be relevant:</a:t>
            </a:r>
          </a:p>
        </p:txBody>
      </p:sp>
    </p:spTree>
    <p:extLst>
      <p:ext uri="{BB962C8B-B14F-4D97-AF65-F5344CB8AC3E}">
        <p14:creationId xmlns:p14="http://schemas.microsoft.com/office/powerpoint/2010/main" val="217758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F6F7-F22E-E16F-31E8-5C545D89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Feature engineering (code)</a:t>
            </a:r>
          </a:p>
        </p:txBody>
      </p:sp>
      <p:pic>
        <p:nvPicPr>
          <p:cNvPr id="17" name="Picture 1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E75BE22-1FB9-CE34-4C7B-679D4FDB6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21165"/>
            <a:ext cx="5643122" cy="4066703"/>
          </a:xfrm>
          <a:prstGeom prst="rect">
            <a:avLst/>
          </a:prstGeom>
        </p:spPr>
      </p:pic>
      <p:pic>
        <p:nvPicPr>
          <p:cNvPr id="21" name="Picture 20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6160D9A-6E1A-EBEA-5B3D-BFB27531D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77" y="1921164"/>
            <a:ext cx="5643123" cy="406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48BF-C954-AA11-0A8B-EB4B7271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Addressing the 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AB874-1BC0-18B5-4A42-47235BD2B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225075" cy="3678303"/>
          </a:xfrm>
        </p:spPr>
        <p:txBody>
          <a:bodyPr>
            <a:normAutofit/>
          </a:bodyPr>
          <a:lstStyle/>
          <a:p>
            <a:r>
              <a:rPr lang="en-US" dirty="0"/>
              <a:t>MIMIC III contains 9,882 admissions that involved a breathing tube insertion procedure</a:t>
            </a:r>
          </a:p>
          <a:p>
            <a:r>
              <a:rPr lang="en-US" dirty="0"/>
              <a:t>The remaining 49,094 admissions did not involve breathing tube insertion</a:t>
            </a:r>
          </a:p>
          <a:p>
            <a:r>
              <a:rPr lang="en-US" dirty="0"/>
              <a:t>A nearly </a:t>
            </a:r>
            <a:r>
              <a:rPr lang="en-US" b="1" dirty="0"/>
              <a:t>1:5 ratio</a:t>
            </a:r>
            <a:r>
              <a:rPr lang="en-US" dirty="0"/>
              <a:t>, something that must be addressed in the data</a:t>
            </a:r>
          </a:p>
          <a:p>
            <a:r>
              <a:rPr lang="en-US" dirty="0"/>
              <a:t>Different sampling techniques can be applied to address this imbalance such as: </a:t>
            </a:r>
            <a:r>
              <a:rPr lang="en-US" dirty="0">
                <a:hlinkClick r:id="rId2"/>
              </a:rPr>
              <a:t>SMOTE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ADASYN</a:t>
            </a:r>
            <a:r>
              <a:rPr lang="en-US" dirty="0"/>
              <a:t>, Random </a:t>
            </a:r>
            <a:r>
              <a:rPr lang="en-US" dirty="0" err="1"/>
              <a:t>Undersampling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SMOTEENN</a:t>
            </a:r>
            <a:r>
              <a:rPr lang="en-US" dirty="0"/>
              <a:t>, or </a:t>
            </a:r>
            <a:r>
              <a:rPr lang="en-US" dirty="0">
                <a:hlinkClick r:id="rId5"/>
              </a:rPr>
              <a:t>SMOTETomek</a:t>
            </a:r>
            <a:r>
              <a:rPr lang="en-US" dirty="0"/>
              <a:t> </a:t>
            </a:r>
          </a:p>
          <a:p>
            <a:r>
              <a:rPr lang="en-US" dirty="0" err="1">
                <a:hlinkClick r:id="rId6"/>
              </a:rPr>
              <a:t>Imblearn</a:t>
            </a:r>
            <a:r>
              <a:rPr lang="en-US" dirty="0"/>
              <a:t> provides various utilities to make these techniques simple to apply as seen in the code.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B3F8B4A-F916-2AC4-3E44-C71AFA9F3B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9865" b="-4"/>
          <a:stretch/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9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DD34-359A-F204-5076-211C3F6D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CF915-A5EA-8986-344F-FB1AF1B4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488144" cy="34346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With train/test splits for each sampling approach, we can compare the results of the sampling + ML model combinations</a:t>
            </a:r>
          </a:p>
          <a:p>
            <a:pPr>
              <a:lnSpc>
                <a:spcPct val="90000"/>
              </a:lnSpc>
            </a:pPr>
            <a:r>
              <a:rPr lang="en-US" dirty="0"/>
              <a:t>From </a:t>
            </a:r>
            <a:r>
              <a:rPr lang="en-US" dirty="0">
                <a:hlinkClick r:id="rId2"/>
              </a:rPr>
              <a:t>Scikit Learn</a:t>
            </a:r>
            <a:r>
              <a:rPr lang="en-US" dirty="0"/>
              <a:t> </a:t>
            </a:r>
            <a:r>
              <a:rPr lang="en-US" dirty="0" err="1"/>
              <a:t>SGDClassifier</a:t>
            </a:r>
            <a:r>
              <a:rPr lang="en-US" dirty="0"/>
              <a:t>, </a:t>
            </a:r>
            <a:r>
              <a:rPr lang="en-US" dirty="0" err="1"/>
              <a:t>LogisticRegression</a:t>
            </a:r>
            <a:r>
              <a:rPr lang="en-US" dirty="0"/>
              <a:t>, </a:t>
            </a:r>
            <a:r>
              <a:rPr lang="en-US" dirty="0" err="1"/>
              <a:t>GradientBoostingClassifier</a:t>
            </a:r>
            <a:r>
              <a:rPr lang="en-US" dirty="0"/>
              <a:t>, </a:t>
            </a:r>
            <a:r>
              <a:rPr lang="en-US" dirty="0" err="1"/>
              <a:t>RandomForestClassifier</a:t>
            </a:r>
            <a:r>
              <a:rPr lang="en-US" dirty="0"/>
              <a:t>, and </a:t>
            </a:r>
            <a:r>
              <a:rPr lang="en-US" dirty="0" err="1"/>
              <a:t>KNeighborsClassifier</a:t>
            </a:r>
            <a:r>
              <a:rPr lang="en-US" dirty="0"/>
              <a:t> were used in training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03303A-C3E7-0CA2-71DC-8B579573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091" b="4"/>
          <a:stretch/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FE78F8B-35D1-2BB0-C5F3-4E9702886D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48" b="1"/>
          <a:stretch/>
        </p:blipFill>
        <p:spPr>
          <a:xfrm>
            <a:off x="4246032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4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CA8A-2B29-6C2A-59C7-B995A363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Model Evaluation (Plots)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0377891-3FCC-B3B3-A0EC-9F94E4B3D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 fontScale="92500" lnSpcReduction="20000"/>
          </a:bodyPr>
          <a:lstStyle/>
          <a:p>
            <a:r>
              <a:rPr lang="en-US" dirty="0"/>
              <a:t>The plots on the right show the sampling + model test set results</a:t>
            </a:r>
          </a:p>
          <a:p>
            <a:r>
              <a:rPr lang="en-US" b="1" dirty="0"/>
              <a:t>Gradient boost </a:t>
            </a:r>
            <a:r>
              <a:rPr lang="en-US" dirty="0"/>
              <a:t>with the </a:t>
            </a:r>
            <a:r>
              <a:rPr lang="en-US" b="1" dirty="0"/>
              <a:t>original sampling</a:t>
            </a:r>
            <a:r>
              <a:rPr lang="en-US" dirty="0"/>
              <a:t> had the best results at </a:t>
            </a:r>
            <a:r>
              <a:rPr lang="en-US" b="1" dirty="0"/>
              <a:t>0.6444</a:t>
            </a:r>
            <a:r>
              <a:rPr lang="en-US" dirty="0"/>
              <a:t> </a:t>
            </a:r>
            <a:r>
              <a:rPr lang="en-US" b="1" dirty="0"/>
              <a:t>ROC-AUC</a:t>
            </a:r>
          </a:p>
          <a:p>
            <a:r>
              <a:rPr lang="en-US" dirty="0"/>
              <a:t>AUC is the area under the ROC curve, which summarizes the model’s ability to distinguish between positive and negative classes.</a:t>
            </a:r>
          </a:p>
          <a:p>
            <a:r>
              <a:rPr lang="en-US" dirty="0"/>
              <a:t>Ideally, we want an AUC close to 1 but results from 80-90 are considered strong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9E968-1E55-45B0-AC00-6A85BB779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5433" y="1892371"/>
            <a:ext cx="3680469" cy="220396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and yellow squares with white text&#10;&#10;AI-generated content may be incorrect.">
            <a:extLst>
              <a:ext uri="{FF2B5EF4-FFF2-40B4-BE49-F238E27FC236}">
                <a16:creationId xmlns:a16="http://schemas.microsoft.com/office/drawing/2014/main" id="{25B6D4E4-532A-B5A7-5302-8914DECA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052" y="2050247"/>
            <a:ext cx="2737231" cy="188869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D140164-8E19-4FEF-8643-59D66E583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493" y="1892370"/>
            <a:ext cx="3699935" cy="2203961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oup of blue and green bars&#10;&#10;AI-generated content may be incorrect.">
            <a:extLst>
              <a:ext uri="{FF2B5EF4-FFF2-40B4-BE49-F238E27FC236}">
                <a16:creationId xmlns:a16="http://schemas.microsoft.com/office/drawing/2014/main" id="{122C5A05-EFC8-CEF4-C0DD-592984BE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685" y="2050247"/>
            <a:ext cx="2829497" cy="188869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AB7A83-92F3-41CD-B4C9-CA06F9F45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598" y="4186861"/>
            <a:ext cx="3680469" cy="2210209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1CA3613-05AF-D5F2-D276-7DF966609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552" y="4358525"/>
            <a:ext cx="2834228" cy="187767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5D7150B-6F2A-4E47-81C4-35F35368E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439" y="4186861"/>
            <a:ext cx="3699989" cy="2210209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9F2D883-95FB-0EE1-8A94-2BA2F650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3306" y="4407524"/>
            <a:ext cx="3378255" cy="17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8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24D7-1657-679E-6EB9-A5D1500DC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HyperParam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6485-C031-60FE-9BBF-EC8657CEA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>
            <a:normAutofit/>
          </a:bodyPr>
          <a:lstStyle/>
          <a:p>
            <a:r>
              <a:rPr lang="en-US" dirty="0"/>
              <a:t>Using scikit </a:t>
            </a:r>
            <a:r>
              <a:rPr lang="en-US" dirty="0">
                <a:hlinkClick r:id="rId2"/>
              </a:rPr>
              <a:t>GridSearchCV</a:t>
            </a:r>
            <a:r>
              <a:rPr lang="en-US" dirty="0"/>
              <a:t> a variety of </a:t>
            </a:r>
            <a:r>
              <a:rPr lang="en-US" dirty="0" err="1"/>
              <a:t>hyperparams</a:t>
            </a:r>
            <a:r>
              <a:rPr lang="en-US" dirty="0"/>
              <a:t> were tried with different models</a:t>
            </a:r>
          </a:p>
          <a:p>
            <a:r>
              <a:rPr lang="en-US" dirty="0"/>
              <a:t>The models all used the original sampling method since it had the highest roc-</a:t>
            </a:r>
            <a:r>
              <a:rPr lang="en-US" dirty="0" err="1"/>
              <a:t>auc</a:t>
            </a:r>
            <a:endParaRPr lang="en-US" dirty="0"/>
          </a:p>
          <a:p>
            <a:r>
              <a:rPr lang="en-US" dirty="0"/>
              <a:t>Overall results did not show much improvement over default </a:t>
            </a:r>
            <a:r>
              <a:rPr lang="en-US" dirty="0" err="1"/>
              <a:t>hyperparams</a:t>
            </a:r>
            <a:r>
              <a:rPr lang="en-US" dirty="0"/>
              <a:t> for the models.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E90C7-3683-0BFC-FA83-AE670112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48" b="1"/>
          <a:stretch/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4C3011C-32B0-3A3D-E3C5-8089B8DF6F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02" r="2" b="1951"/>
          <a:stretch/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D431-6BEF-743E-3FF4-C113D84B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</a:t>
            </a:r>
            <a:r>
              <a:rPr lang="en-US" dirty="0"/>
              <a:t> tuning (plots)</a:t>
            </a:r>
          </a:p>
        </p:txBody>
      </p:sp>
      <p:pic>
        <p:nvPicPr>
          <p:cNvPr id="5" name="Content Placeholder 4" descr="A graph with green bars&#10;&#10;AI-generated content may be incorrect.">
            <a:extLst>
              <a:ext uri="{FF2B5EF4-FFF2-40B4-BE49-F238E27FC236}">
                <a16:creationId xmlns:a16="http://schemas.microsoft.com/office/drawing/2014/main" id="{E29D139A-FFF7-70FD-6C55-00114B9CC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1661" y="2535978"/>
            <a:ext cx="4985226" cy="2968730"/>
          </a:xfrm>
        </p:spPr>
      </p:pic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51FEE099-F1BC-5D12-933D-5FFC52F8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13" y="2307299"/>
            <a:ext cx="5163262" cy="342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12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3DF8-E3DA-7C9E-74F8-7FE5AE29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A0145B-486E-6D13-F362-E68AF88D4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6530" y="2015793"/>
            <a:ext cx="2429035" cy="435551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A76FF4-443C-BF25-04FE-A36DC705E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617" y="2591364"/>
            <a:ext cx="3344191" cy="3028540"/>
          </a:xfrm>
          <a:prstGeom prst="rect">
            <a:avLst/>
          </a:prstGeom>
        </p:spPr>
      </p:pic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577DDD40-0DC4-DC31-B10C-2ED61D1A16B4}"/>
              </a:ext>
            </a:extLst>
          </p:cNvPr>
          <p:cNvSpPr txBox="1">
            <a:spLocks/>
          </p:cNvSpPr>
          <p:nvPr/>
        </p:nvSpPr>
        <p:spPr>
          <a:xfrm>
            <a:off x="581192" y="2388302"/>
            <a:ext cx="4754286" cy="39830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ROC-AUC results are only slightly better than random chance (0.5)</a:t>
            </a:r>
          </a:p>
          <a:p>
            <a:r>
              <a:rPr lang="en-US" dirty="0"/>
              <a:t>Additional features could be engineered to possibly enhance results using aggregated </a:t>
            </a:r>
            <a:r>
              <a:rPr lang="en-US" b="1" dirty="0"/>
              <a:t>charts data </a:t>
            </a:r>
            <a:r>
              <a:rPr lang="en-US" dirty="0"/>
              <a:t>or even </a:t>
            </a:r>
            <a:r>
              <a:rPr lang="en-US" b="1" dirty="0"/>
              <a:t>named entities </a:t>
            </a:r>
            <a:r>
              <a:rPr lang="en-US" dirty="0"/>
              <a:t>from </a:t>
            </a:r>
            <a:r>
              <a:rPr lang="en-US" b="1" dirty="0"/>
              <a:t>notes</a:t>
            </a:r>
          </a:p>
          <a:p>
            <a:r>
              <a:rPr lang="en-US" dirty="0"/>
              <a:t>With an accurate model a hospital could more efficiently allocate staff or item resources to prepare ahead for patients that might need such a serious procedure or even transfer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52495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3569</TotalTime>
  <Words>532</Words>
  <Application>Microsoft Macintosh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Wingdings 2</vt:lpstr>
      <vt:lpstr>Dividend</vt:lpstr>
      <vt:lpstr>ML/DL Tutorial</vt:lpstr>
      <vt:lpstr>Breathing tubes</vt:lpstr>
      <vt:lpstr>Features from Mimic Tables </vt:lpstr>
      <vt:lpstr>Features from Mimic Tables (code)</vt:lpstr>
      <vt:lpstr>Feature Engineering</vt:lpstr>
      <vt:lpstr>Feature engineering (code)</vt:lpstr>
      <vt:lpstr>Addressing the Class Imbalance</vt:lpstr>
      <vt:lpstr>Model Training</vt:lpstr>
      <vt:lpstr>Model Evaluation (Plots)</vt:lpstr>
      <vt:lpstr>HyperParam tuning</vt:lpstr>
      <vt:lpstr>Hyperparam tuning (plots)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McCormack</dc:creator>
  <cp:lastModifiedBy>Owen McCormack</cp:lastModifiedBy>
  <cp:revision>23</cp:revision>
  <dcterms:created xsi:type="dcterms:W3CDTF">2025-03-14T11:31:17Z</dcterms:created>
  <dcterms:modified xsi:type="dcterms:W3CDTF">2025-03-16T23:01:44Z</dcterms:modified>
</cp:coreProperties>
</file>