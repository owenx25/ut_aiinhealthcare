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1" r:id="rId1"/>
  </p:sldMasterIdLst>
  <p:sldIdLst>
    <p:sldId id="256" r:id="rId2"/>
    <p:sldId id="257" r:id="rId3"/>
    <p:sldId id="262" r:id="rId4"/>
    <p:sldId id="258" r:id="rId5"/>
    <p:sldId id="263" r:id="rId6"/>
    <p:sldId id="259" r:id="rId7"/>
    <p:sldId id="264" r:id="rId8"/>
    <p:sldId id="260" r:id="rId9"/>
    <p:sldId id="265" r:id="rId10"/>
    <p:sldId id="261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9"/>
    <p:restoredTop sz="94661"/>
  </p:normalViewPr>
  <p:slideViewPr>
    <p:cSldViewPr snapToGrid="0">
      <p:cViewPr>
        <p:scale>
          <a:sx n="100" d="100"/>
          <a:sy n="100" d="100"/>
        </p:scale>
        <p:origin x="100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7D6753D-4446-6E48-86EE-2EAB5102C6A2}" type="datetimeFigureOut">
              <a:rPr lang="en-US" smtClean="0"/>
              <a:t>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491579F-D396-0843-9588-EB08A6769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131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6753D-4446-6E48-86EE-2EAB5102C6A2}" type="datetimeFigureOut">
              <a:rPr lang="en-US" smtClean="0"/>
              <a:t>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9491579F-D396-0843-9588-EB08A6769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666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7D6753D-4446-6E48-86EE-2EAB5102C6A2}" type="datetimeFigureOut">
              <a:rPr lang="en-US" smtClean="0"/>
              <a:t>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491579F-D396-0843-9588-EB08A6769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66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6753D-4446-6E48-86EE-2EAB5102C6A2}" type="datetimeFigureOut">
              <a:rPr lang="en-US" smtClean="0"/>
              <a:t>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579F-D396-0843-9588-EB08A6769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975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6753D-4446-6E48-86EE-2EAB5102C6A2}" type="datetimeFigureOut">
              <a:rPr lang="en-US" smtClean="0"/>
              <a:t>2/1/25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579F-D396-0843-9588-EB08A6769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92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6753D-4446-6E48-86EE-2EAB5102C6A2}" type="datetimeFigureOut">
              <a:rPr lang="en-US" smtClean="0"/>
              <a:t>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579F-D396-0843-9588-EB08A6769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00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6753D-4446-6E48-86EE-2EAB5102C6A2}" type="datetimeFigureOut">
              <a:rPr lang="en-US" smtClean="0"/>
              <a:t>2/1/25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579F-D396-0843-9588-EB08A6769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218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7D6753D-4446-6E48-86EE-2EAB5102C6A2}" type="datetimeFigureOut">
              <a:rPr lang="en-US" smtClean="0"/>
              <a:t>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491579F-D396-0843-9588-EB08A6769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41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6753D-4446-6E48-86EE-2EAB5102C6A2}" type="datetimeFigureOut">
              <a:rPr lang="en-US" smtClean="0"/>
              <a:t>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579F-D396-0843-9588-EB08A6769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908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6753D-4446-6E48-86EE-2EAB5102C6A2}" type="datetimeFigureOut">
              <a:rPr lang="en-US" smtClean="0"/>
              <a:t>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579F-D396-0843-9588-EB08A6769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45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7D6753D-4446-6E48-86EE-2EAB5102C6A2}" type="datetimeFigureOut">
              <a:rPr lang="en-US" smtClean="0"/>
              <a:t>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491579F-D396-0843-9588-EB08A6769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12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7D6753D-4446-6E48-86EE-2EAB5102C6A2}" type="datetimeFigureOut">
              <a:rPr lang="en-US" smtClean="0"/>
              <a:t>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491579F-D396-0843-9588-EB08A6769B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01000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3D03A-E4C8-6A40-B94E-788FDB7B31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Assignment 2</a:t>
            </a:r>
            <a:br>
              <a:rPr lang="en-US" dirty="0"/>
            </a:br>
            <a:r>
              <a:rPr lang="en-US" dirty="0"/>
              <a:t>MIMIC Visualization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0ED7C-7E4E-1EC2-FB48-DC25F907E0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Owen McCormack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784A5A-346C-D306-2613-BEA77BE75CE8}"/>
              </a:ext>
            </a:extLst>
          </p:cNvPr>
          <p:cNvSpPr txBox="1"/>
          <p:nvPr/>
        </p:nvSpPr>
        <p:spPr>
          <a:xfrm>
            <a:off x="581191" y="156717"/>
            <a:ext cx="1971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AI in Healthcare</a:t>
            </a:r>
          </a:p>
        </p:txBody>
      </p:sp>
    </p:spTree>
    <p:extLst>
      <p:ext uri="{BB962C8B-B14F-4D97-AF65-F5344CB8AC3E}">
        <p14:creationId xmlns:p14="http://schemas.microsoft.com/office/powerpoint/2010/main" val="3062613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D5298-D6D7-0318-DB30-05259DC98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C902C5-014C-E419-C4BA-5656CDCFEA8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025" y="2429473"/>
            <a:ext cx="5422900" cy="3229367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6480E1-B732-D335-175E-1E0A8908F9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Admissions vs Deaths </a:t>
            </a:r>
            <a:r>
              <a:rPr lang="en-US" i="1" dirty="0"/>
              <a:t>seasonally</a:t>
            </a:r>
          </a:p>
          <a:p>
            <a:r>
              <a:rPr lang="en-US" dirty="0"/>
              <a:t>Although dates are shifted, seasons are preserved:</a:t>
            </a:r>
          </a:p>
          <a:p>
            <a:pPr lvl="1"/>
            <a:r>
              <a:rPr lang="en-US" i="1" dirty="0"/>
              <a:t>“Time of day, day of week, and approximate seasonality were conserved during date shifting.” (Johnson, 2016)</a:t>
            </a:r>
          </a:p>
          <a:p>
            <a:r>
              <a:rPr lang="en-US" dirty="0"/>
              <a:t>Admissions per season do not deviate much with the peak being the Summer months and the lowest in the Fall</a:t>
            </a:r>
          </a:p>
          <a:p>
            <a:r>
              <a:rPr lang="en-US" dirty="0"/>
              <a:t>Deaths are nearly opposite with a peak in the Winter and a large drop in summer months</a:t>
            </a:r>
          </a:p>
        </p:txBody>
      </p:sp>
    </p:spTree>
    <p:extLst>
      <p:ext uri="{BB962C8B-B14F-4D97-AF65-F5344CB8AC3E}">
        <p14:creationId xmlns:p14="http://schemas.microsoft.com/office/powerpoint/2010/main" val="11987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3FCC91-16BB-EA8A-34BF-0B16FA030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1 Explained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F4D72C-B51E-1858-5935-FE2024113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admissions csv, create a </a:t>
            </a:r>
            <a:r>
              <a:rPr lang="en-US" dirty="0" err="1"/>
              <a:t>dataframe</a:t>
            </a:r>
            <a:r>
              <a:rPr lang="en-US" dirty="0"/>
              <a:t> filtering to just ADMITTIME and DEATHTIME columns</a:t>
            </a:r>
          </a:p>
          <a:p>
            <a:r>
              <a:rPr lang="en-US" dirty="0"/>
              <a:t>Extract the month from ADMITTIME and DEATHTIME and apply a function to create 2 new columns in this </a:t>
            </a:r>
            <a:r>
              <a:rPr lang="en-US" dirty="0" err="1"/>
              <a:t>dataframe</a:t>
            </a:r>
            <a:r>
              <a:rPr lang="en-US" dirty="0"/>
              <a:t>: </a:t>
            </a:r>
            <a:r>
              <a:rPr lang="en-US" dirty="0" err="1"/>
              <a:t>admitseason</a:t>
            </a:r>
            <a:r>
              <a:rPr lang="en-US" dirty="0"/>
              <a:t> and </a:t>
            </a:r>
            <a:r>
              <a:rPr lang="en-US" dirty="0" err="1"/>
              <a:t>deathseason</a:t>
            </a:r>
            <a:endParaRPr lang="en-US" dirty="0"/>
          </a:p>
          <a:p>
            <a:r>
              <a:rPr lang="en-US" dirty="0"/>
              <a:t>Create a new </a:t>
            </a:r>
            <a:r>
              <a:rPr lang="en-US" dirty="0" err="1"/>
              <a:t>admissions_by_season</a:t>
            </a:r>
            <a:r>
              <a:rPr lang="en-US" dirty="0"/>
              <a:t> data frame by grouping admissions by </a:t>
            </a:r>
            <a:r>
              <a:rPr lang="en-US" dirty="0" err="1"/>
              <a:t>admitseason</a:t>
            </a:r>
            <a:endParaRPr lang="en-US" dirty="0"/>
          </a:p>
          <a:p>
            <a:r>
              <a:rPr lang="en-US" dirty="0"/>
              <a:t>Create a new </a:t>
            </a:r>
            <a:r>
              <a:rPr lang="en-US" dirty="0" err="1"/>
              <a:t>deaths_by_season</a:t>
            </a:r>
            <a:r>
              <a:rPr lang="en-US" dirty="0"/>
              <a:t> data frame by grouping admissions by </a:t>
            </a:r>
            <a:r>
              <a:rPr lang="en-US" dirty="0" err="1"/>
              <a:t>deathseason</a:t>
            </a:r>
            <a:endParaRPr lang="en-US" dirty="0"/>
          </a:p>
          <a:p>
            <a:r>
              <a:rPr lang="en-US" dirty="0"/>
              <a:t>Using matplotlib, Plot </a:t>
            </a:r>
            <a:r>
              <a:rPr lang="en-US" dirty="0" err="1"/>
              <a:t>admissions_by_season</a:t>
            </a:r>
            <a:r>
              <a:rPr lang="en-US" dirty="0"/>
              <a:t> as a bar and </a:t>
            </a:r>
            <a:r>
              <a:rPr lang="en-US" dirty="0" err="1"/>
              <a:t>deaths_by_season</a:t>
            </a:r>
            <a:r>
              <a:rPr lang="en-US" dirty="0"/>
              <a:t> as a line graph and include both subplots together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430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B7361-DC56-0D56-82A1-62F524D14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2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546B5E8-69C6-CB46-181F-AF5FEED34D2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025" y="2578637"/>
            <a:ext cx="5422900" cy="2931039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5D68D-134D-4766-A371-6D2DD8178E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Word Cloud of the 50 Most Common Diagnoses</a:t>
            </a:r>
          </a:p>
          <a:p>
            <a:r>
              <a:rPr lang="en-US" dirty="0"/>
              <a:t>Diagnosis Table icd9 codes were joined with </a:t>
            </a:r>
            <a:r>
              <a:rPr lang="en-US" dirty="0" err="1"/>
              <a:t>d_icd</a:t>
            </a:r>
            <a:r>
              <a:rPr lang="en-US" dirty="0"/>
              <a:t> to get the short name of each code</a:t>
            </a:r>
          </a:p>
          <a:p>
            <a:r>
              <a:rPr lang="en-US" dirty="0"/>
              <a:t>Popular diagnosis include </a:t>
            </a:r>
            <a:r>
              <a:rPr lang="en-US" i="1" dirty="0"/>
              <a:t>Congestive Heart Failure </a:t>
            </a:r>
            <a:r>
              <a:rPr lang="en-US" dirty="0"/>
              <a:t>(CHF NOS),  </a:t>
            </a:r>
            <a:r>
              <a:rPr lang="en-US" i="1" dirty="0"/>
              <a:t>Hypertension NOS</a:t>
            </a:r>
            <a:r>
              <a:rPr lang="en-US" dirty="0"/>
              <a:t>,  </a:t>
            </a:r>
            <a:r>
              <a:rPr lang="en-US" i="1" dirty="0"/>
              <a:t>Atrial fibrillation</a:t>
            </a:r>
            <a:r>
              <a:rPr lang="en-US" dirty="0"/>
              <a:t>, and </a:t>
            </a:r>
            <a:r>
              <a:rPr lang="en-US" i="1" dirty="0"/>
              <a:t>Acute Kidney Failure NOS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786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B919B-DCC4-D63D-3CCA-4A44DA78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2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8351B-B916-3C37-C45C-F7CE991EE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D_ICD_DIAGNOSIS csv cast the ICD9_CODE column as a string and then join with the DIAGNOSIS table on its ICD_CODE column there to create a new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/>
              <a:t>Group results by SHORT_TITLE to get a descriptor of each icd9 code</a:t>
            </a:r>
          </a:p>
          <a:p>
            <a:r>
              <a:rPr lang="en-US" dirty="0" err="1"/>
              <a:t>Wordcloud</a:t>
            </a:r>
            <a:r>
              <a:rPr lang="en-US" dirty="0"/>
              <a:t> needs a </a:t>
            </a:r>
            <a:r>
              <a:rPr lang="en-US" dirty="0" err="1"/>
              <a:t>dict</a:t>
            </a:r>
            <a:r>
              <a:rPr lang="en-US" dirty="0"/>
              <a:t> so use size() and </a:t>
            </a:r>
            <a:r>
              <a:rPr lang="en-US" dirty="0" err="1"/>
              <a:t>nlargest</a:t>
            </a:r>
            <a:r>
              <a:rPr lang="en-US" dirty="0"/>
              <a:t>() on the group results and then </a:t>
            </a:r>
            <a:r>
              <a:rPr lang="en-US" dirty="0" err="1"/>
              <a:t>to_dict</a:t>
            </a:r>
            <a:r>
              <a:rPr lang="en-US" dirty="0"/>
              <a:t>() to convert to the correct data structure</a:t>
            </a:r>
          </a:p>
          <a:p>
            <a:r>
              <a:rPr lang="en-US" dirty="0"/>
              <a:t>Use the python </a:t>
            </a:r>
            <a:r>
              <a:rPr lang="en-US" dirty="0" err="1"/>
              <a:t>wordcloud</a:t>
            </a:r>
            <a:r>
              <a:rPr lang="en-US" dirty="0"/>
              <a:t> library to generate the visualization and tune the </a:t>
            </a:r>
            <a:r>
              <a:rPr lang="en-US" i="1" dirty="0" err="1"/>
              <a:t>prefer_horizontal</a:t>
            </a:r>
            <a:r>
              <a:rPr lang="en-US" i="1" dirty="0"/>
              <a:t> </a:t>
            </a:r>
            <a:r>
              <a:rPr lang="en-US" dirty="0"/>
              <a:t>param</a:t>
            </a:r>
            <a:r>
              <a:rPr lang="en-US" i="1" dirty="0"/>
              <a:t> </a:t>
            </a:r>
            <a:r>
              <a:rPr lang="en-US" dirty="0"/>
              <a:t>as needed</a:t>
            </a:r>
          </a:p>
        </p:txBody>
      </p:sp>
    </p:spTree>
    <p:extLst>
      <p:ext uri="{BB962C8B-B14F-4D97-AF65-F5344CB8AC3E}">
        <p14:creationId xmlns:p14="http://schemas.microsoft.com/office/powerpoint/2010/main" val="488961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1E979-B310-DA57-4C95-FC2E11C8B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3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C43B20C-A18F-C798-A4D3-E782F2B8445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5451" y="2228003"/>
            <a:ext cx="5602966" cy="363304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CA060B-276C-0E0D-589D-F8E20AE511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Sankey Diagram showing Top 3 Drugs with the Top 3 Associated Doses</a:t>
            </a:r>
          </a:p>
          <a:p>
            <a:r>
              <a:rPr lang="en-US" dirty="0"/>
              <a:t>Most prescribed included </a:t>
            </a:r>
            <a:r>
              <a:rPr lang="en-US" i="1" dirty="0"/>
              <a:t>D5W 250 mL </a:t>
            </a:r>
            <a:r>
              <a:rPr lang="en-US" dirty="0"/>
              <a:t>at 86k, </a:t>
            </a:r>
            <a:r>
              <a:rPr lang="en-US" i="1" dirty="0"/>
              <a:t>Insulin 0 units </a:t>
            </a:r>
            <a:r>
              <a:rPr lang="en-US" dirty="0"/>
              <a:t>at 82.1k, and </a:t>
            </a:r>
            <a:r>
              <a:rPr lang="en-US" i="1" dirty="0"/>
              <a:t>Potassium Chloride 40 </a:t>
            </a:r>
            <a:r>
              <a:rPr lang="en-US" i="1" dirty="0" err="1"/>
              <a:t>mEq</a:t>
            </a:r>
            <a:r>
              <a:rPr lang="en-US" i="1" dirty="0"/>
              <a:t> </a:t>
            </a:r>
            <a:r>
              <a:rPr lang="en-US" dirty="0"/>
              <a:t>at 90.8k</a:t>
            </a:r>
          </a:p>
          <a:p>
            <a:r>
              <a:rPr lang="en-US" dirty="0"/>
              <a:t>D5W had separate categories for “250 ml” and “250 mL” so all measurements were lower cased to be combined</a:t>
            </a:r>
          </a:p>
          <a:p>
            <a:r>
              <a:rPr lang="en-US" i="1" dirty="0"/>
              <a:t>Note</a:t>
            </a:r>
            <a:r>
              <a:rPr lang="en-US" dirty="0"/>
              <a:t>:  These prescriptions have additional dosages but they were limited to 3 to allow readability</a:t>
            </a:r>
          </a:p>
        </p:txBody>
      </p:sp>
    </p:spTree>
    <p:extLst>
      <p:ext uri="{BB962C8B-B14F-4D97-AF65-F5344CB8AC3E}">
        <p14:creationId xmlns:p14="http://schemas.microsoft.com/office/powerpoint/2010/main" val="2351828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846AA-6D42-53EB-EE0C-F192A2522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3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26B18-C684-019D-16D0-486BD0594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PRESCRIPTIONS csv select DRUG, DOSE_VAL_RX and DRUG_UNIT_RX columns</a:t>
            </a:r>
          </a:p>
          <a:p>
            <a:r>
              <a:rPr lang="en-US" dirty="0"/>
              <a:t>Drop rows with empty or null values and make DOSE_VAL_RX numeric</a:t>
            </a:r>
          </a:p>
          <a:p>
            <a:r>
              <a:rPr lang="en-US" dirty="0"/>
              <a:t>Create new column DOSE by combining DOSE_VAL_RX and DRUG_UNIT_RX (lower cased)</a:t>
            </a:r>
          </a:p>
          <a:p>
            <a:r>
              <a:rPr lang="en-US" dirty="0"/>
              <a:t>Group the rows by DRUG and DOSE and save the size of each group in a Frequency column</a:t>
            </a:r>
          </a:p>
          <a:p>
            <a:r>
              <a:rPr lang="en-US" dirty="0"/>
              <a:t>Now group on DRUG and sum the Frequencies to get the n largest (my visualization used top 3)</a:t>
            </a:r>
          </a:p>
          <a:p>
            <a:r>
              <a:rPr lang="en-US" dirty="0"/>
              <a:t>With the </a:t>
            </a:r>
            <a:r>
              <a:rPr lang="en-US" dirty="0" err="1"/>
              <a:t>top_drugs</a:t>
            </a:r>
            <a:r>
              <a:rPr lang="en-US" dirty="0"/>
              <a:t> </a:t>
            </a:r>
            <a:r>
              <a:rPr lang="en-US" dirty="0" err="1"/>
              <a:t>dataframe</a:t>
            </a:r>
            <a:r>
              <a:rPr lang="en-US" dirty="0"/>
              <a:t>, sort by DRUG and Frequency then group by DRUG and use head to get the top n doses </a:t>
            </a:r>
          </a:p>
          <a:p>
            <a:r>
              <a:rPr lang="en-US" dirty="0"/>
              <a:t>For the Sankey diagram set </a:t>
            </a:r>
            <a:r>
              <a:rPr lang="en-US" b="1" dirty="0"/>
              <a:t>nodes</a:t>
            </a:r>
            <a:r>
              <a:rPr lang="en-US" dirty="0"/>
              <a:t> to the drugs + dose combinations, </a:t>
            </a:r>
            <a:r>
              <a:rPr lang="en-US" b="1" dirty="0"/>
              <a:t>source</a:t>
            </a:r>
            <a:r>
              <a:rPr lang="en-US" dirty="0"/>
              <a:t> to the DRUG column, </a:t>
            </a:r>
            <a:r>
              <a:rPr lang="en-US" b="1" dirty="0"/>
              <a:t>target</a:t>
            </a:r>
            <a:r>
              <a:rPr lang="en-US" dirty="0"/>
              <a:t> to the DOSE column, and </a:t>
            </a:r>
            <a:r>
              <a:rPr lang="en-US" b="1" dirty="0"/>
              <a:t>value</a:t>
            </a:r>
            <a:r>
              <a:rPr lang="en-US" dirty="0"/>
              <a:t> to the frequency and display with </a:t>
            </a:r>
            <a:r>
              <a:rPr lang="en-US" dirty="0" err="1"/>
              <a:t>plotly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013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78286-90AF-2133-03E4-8A66E1623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4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EF5456B-F2A4-2143-5957-F275AD5B82B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90421" y="2615406"/>
            <a:ext cx="5417728" cy="3512936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50843-224E-1747-2969-7DD44D5DEC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Stacked Histogram of ICU Patient </a:t>
            </a:r>
            <a:r>
              <a:rPr lang="en-US" dirty="0" err="1"/>
              <a:t>staytime</a:t>
            </a:r>
            <a:r>
              <a:rPr lang="en-US" dirty="0"/>
              <a:t> vs Age combined with gender</a:t>
            </a:r>
          </a:p>
          <a:p>
            <a:r>
              <a:rPr lang="en-US" dirty="0"/>
              <a:t>Patients older than 89 and younger than 1 were excluded</a:t>
            </a:r>
          </a:p>
          <a:p>
            <a:r>
              <a:rPr lang="en-US" dirty="0"/>
              <a:t>ICU admissions start to rise in the late 30s, peak around the mid 70s and then begin to drop off</a:t>
            </a:r>
          </a:p>
          <a:p>
            <a:r>
              <a:rPr lang="en-US" dirty="0"/>
              <a:t>Male admissions rise faster than female and typically have higher ICU admission numbers</a:t>
            </a:r>
          </a:p>
        </p:txBody>
      </p:sp>
    </p:spTree>
    <p:extLst>
      <p:ext uri="{BB962C8B-B14F-4D97-AF65-F5344CB8AC3E}">
        <p14:creationId xmlns:p14="http://schemas.microsoft.com/office/powerpoint/2010/main" val="1808269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6D0F4-4C0B-9015-3B39-9CB1E4F6D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4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EFD31-98F3-F480-5080-DA3F8FD16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ICU_STAYS csv make a </a:t>
            </a:r>
            <a:r>
              <a:rPr lang="en-US" dirty="0" err="1"/>
              <a:t>dataframe</a:t>
            </a:r>
            <a:r>
              <a:rPr lang="en-US" dirty="0"/>
              <a:t> with the LOS, SUBJECT_ID, and INTIME columns</a:t>
            </a:r>
          </a:p>
          <a:p>
            <a:r>
              <a:rPr lang="en-US" dirty="0"/>
              <a:t>From the PATIENTS csv make a </a:t>
            </a:r>
            <a:r>
              <a:rPr lang="en-US" dirty="0" err="1"/>
              <a:t>dataframe</a:t>
            </a:r>
            <a:r>
              <a:rPr lang="en-US" dirty="0"/>
              <a:t> with the SUBJECT_ID, GENDER, and DOB columns</a:t>
            </a:r>
          </a:p>
          <a:p>
            <a:r>
              <a:rPr lang="en-US" dirty="0"/>
              <a:t>Merge both </a:t>
            </a:r>
            <a:r>
              <a:rPr lang="en-US" dirty="0" err="1"/>
              <a:t>dataframes</a:t>
            </a:r>
            <a:r>
              <a:rPr lang="en-US" dirty="0"/>
              <a:t> together on SUBJECT_ID into a new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/>
              <a:t>Add a new column “age” by subtracting the DOB year from the INTIME year</a:t>
            </a:r>
          </a:p>
          <a:p>
            <a:r>
              <a:rPr lang="en-US" dirty="0"/>
              <a:t>Filter out age &gt; 89 and &lt; 1 from the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/>
              <a:t>Plug this </a:t>
            </a:r>
            <a:r>
              <a:rPr lang="en-US" dirty="0" err="1"/>
              <a:t>dataframe</a:t>
            </a:r>
            <a:r>
              <a:rPr lang="en-US" dirty="0"/>
              <a:t> into a </a:t>
            </a:r>
            <a:r>
              <a:rPr lang="en-US" dirty="0" err="1"/>
              <a:t>plotly</a:t>
            </a:r>
            <a:r>
              <a:rPr lang="en-US" dirty="0"/>
              <a:t> stacked histogram, where color is gender</a:t>
            </a:r>
          </a:p>
        </p:txBody>
      </p:sp>
    </p:spTree>
    <p:extLst>
      <p:ext uri="{BB962C8B-B14F-4D97-AF65-F5344CB8AC3E}">
        <p14:creationId xmlns:p14="http://schemas.microsoft.com/office/powerpoint/2010/main" val="2563086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4FBD3-9158-6CEA-72E6-AC12322C2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0CFFFE-BBD1-B5A4-156A-F133451F2F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Time-series subplots of an ICU stay for single patient with id </a:t>
            </a:r>
            <a:r>
              <a:rPr lang="en-US" i="1" dirty="0"/>
              <a:t>99999</a:t>
            </a:r>
            <a:r>
              <a:rPr lang="en-US" dirty="0"/>
              <a:t> admitted with a </a:t>
            </a:r>
            <a:r>
              <a:rPr lang="en-US" i="1" dirty="0"/>
              <a:t>Spondylolisthesis</a:t>
            </a:r>
            <a:r>
              <a:rPr lang="en-US" dirty="0"/>
              <a:t> diagnosis</a:t>
            </a:r>
          </a:p>
          <a:p>
            <a:r>
              <a:rPr lang="en-US" dirty="0"/>
              <a:t>Patient had an ICU stay of just under 27 hours</a:t>
            </a:r>
          </a:p>
          <a:p>
            <a:r>
              <a:rPr lang="en-US" dirty="0"/>
              <a:t>Temperature and O2 Saturation were stable unlike NBP diastolic &amp; systolic, heart rate, and respiratory readings</a:t>
            </a:r>
          </a:p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0A2B3B5-5EA5-8FF6-AE64-EBF45DDC6F2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191" y="2559447"/>
            <a:ext cx="5422900" cy="2970157"/>
          </a:xfrm>
        </p:spPr>
      </p:pic>
    </p:spTree>
    <p:extLst>
      <p:ext uri="{BB962C8B-B14F-4D97-AF65-F5344CB8AC3E}">
        <p14:creationId xmlns:p14="http://schemas.microsoft.com/office/powerpoint/2010/main" val="1684599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DD7E0-D736-C52C-7252-A989E9006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5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7CCA-7303-4161-7A5D-867F0BE74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180496"/>
            <a:ext cx="11029615" cy="3678303"/>
          </a:xfrm>
        </p:spPr>
        <p:txBody>
          <a:bodyPr/>
          <a:lstStyle/>
          <a:p>
            <a:r>
              <a:rPr lang="en-US" dirty="0"/>
              <a:t>Create a map of </a:t>
            </a:r>
            <a:r>
              <a:rPr lang="en-US" dirty="0" err="1"/>
              <a:t>itemids</a:t>
            </a:r>
            <a:r>
              <a:rPr lang="en-US" dirty="0"/>
              <a:t> to label for vitals of interest (In this case Respiratory Rate, Heart Rate, O2 saturation, NBP Systolic/Diastolic, and Temperature were selected.</a:t>
            </a:r>
          </a:p>
          <a:p>
            <a:pPr lvl="1"/>
            <a:r>
              <a:rPr lang="en-US" i="1" dirty="0"/>
              <a:t>Note:</a:t>
            </a:r>
            <a:r>
              <a:rPr lang="en-US" dirty="0"/>
              <a:t> These </a:t>
            </a:r>
            <a:r>
              <a:rPr lang="en-US" dirty="0" err="1"/>
              <a:t>itemids</a:t>
            </a:r>
            <a:r>
              <a:rPr lang="en-US" dirty="0"/>
              <a:t> may vary by patient even with the same label. Ex. “Heart Rate” and “Heart Rate” could have different </a:t>
            </a:r>
            <a:r>
              <a:rPr lang="en-US" dirty="0" err="1"/>
              <a:t>itemids</a:t>
            </a:r>
            <a:r>
              <a:rPr lang="en-US" dirty="0"/>
              <a:t> even though they have the same label</a:t>
            </a:r>
          </a:p>
          <a:p>
            <a:r>
              <a:rPr lang="en-US" dirty="0"/>
              <a:t>Create a </a:t>
            </a:r>
            <a:r>
              <a:rPr lang="en-US" dirty="0" err="1"/>
              <a:t>dataframe</a:t>
            </a:r>
            <a:r>
              <a:rPr lang="en-US" dirty="0"/>
              <a:t> with CHARTEVENTS filtered by the selected SUBJECT_ID. </a:t>
            </a:r>
            <a:r>
              <a:rPr lang="en-US" i="1" dirty="0"/>
              <a:t>Note:  This operation should be chunked considering the size of the csv</a:t>
            </a:r>
            <a:endParaRPr lang="en-US" dirty="0"/>
          </a:p>
          <a:p>
            <a:r>
              <a:rPr lang="en-US" dirty="0"/>
              <a:t>From the filtered </a:t>
            </a:r>
            <a:r>
              <a:rPr lang="en-US" dirty="0" err="1"/>
              <a:t>dataframe</a:t>
            </a:r>
            <a:r>
              <a:rPr lang="en-US" dirty="0"/>
              <a:t>, narrow to CHARTTIME, VALUENUM, and ITEMID columns</a:t>
            </a:r>
          </a:p>
          <a:p>
            <a:r>
              <a:rPr lang="en-US" dirty="0"/>
              <a:t>Add column VITAL to the </a:t>
            </a:r>
            <a:r>
              <a:rPr lang="en-US" dirty="0" err="1"/>
              <a:t>dataframe</a:t>
            </a:r>
            <a:r>
              <a:rPr lang="en-US" dirty="0"/>
              <a:t> that uses the </a:t>
            </a:r>
            <a:r>
              <a:rPr lang="en-US" dirty="0" err="1"/>
              <a:t>itemid</a:t>
            </a:r>
            <a:r>
              <a:rPr lang="en-US" dirty="0"/>
              <a:t> -&gt; label map from step one</a:t>
            </a:r>
          </a:p>
          <a:p>
            <a:r>
              <a:rPr lang="en-US" dirty="0"/>
              <a:t>Drop the ITEMID column and sort by CHARTTIME</a:t>
            </a:r>
          </a:p>
          <a:p>
            <a:r>
              <a:rPr lang="en-US" dirty="0"/>
              <a:t>Plug the </a:t>
            </a:r>
            <a:r>
              <a:rPr lang="en-US" dirty="0" err="1"/>
              <a:t>dataframe</a:t>
            </a:r>
            <a:r>
              <a:rPr lang="en-US" dirty="0"/>
              <a:t> into a </a:t>
            </a:r>
            <a:r>
              <a:rPr lang="en-US" dirty="0" err="1"/>
              <a:t>plotly</a:t>
            </a:r>
            <a:r>
              <a:rPr lang="en-US" dirty="0"/>
              <a:t> area chart with color set to VITAL</a:t>
            </a:r>
          </a:p>
        </p:txBody>
      </p:sp>
    </p:spTree>
    <p:extLst>
      <p:ext uri="{BB962C8B-B14F-4D97-AF65-F5344CB8AC3E}">
        <p14:creationId xmlns:p14="http://schemas.microsoft.com/office/powerpoint/2010/main" val="352018770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1571</TotalTime>
  <Words>908</Words>
  <Application>Microsoft Macintosh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Gill Sans MT</vt:lpstr>
      <vt:lpstr>Wingdings 2</vt:lpstr>
      <vt:lpstr>Dividend</vt:lpstr>
      <vt:lpstr>Assignment 2 MIMIC Visualization</vt:lpstr>
      <vt:lpstr>Visualization 1</vt:lpstr>
      <vt:lpstr>Visualization 1 Explained</vt:lpstr>
      <vt:lpstr>Visualization 2</vt:lpstr>
      <vt:lpstr>Visualization 2 explained</vt:lpstr>
      <vt:lpstr>Visualization 3</vt:lpstr>
      <vt:lpstr>Visualization 3 Explained</vt:lpstr>
      <vt:lpstr>Visualization 4</vt:lpstr>
      <vt:lpstr>Visualization 4 Explained</vt:lpstr>
      <vt:lpstr>Visualization 5</vt:lpstr>
      <vt:lpstr>Visualization 5 explained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Owen McCormack</dc:creator>
  <cp:lastModifiedBy>Owen McCormack</cp:lastModifiedBy>
  <cp:revision>19</cp:revision>
  <dcterms:created xsi:type="dcterms:W3CDTF">2025-01-28T11:36:33Z</dcterms:created>
  <dcterms:modified xsi:type="dcterms:W3CDTF">2025-02-01T18:59:07Z</dcterms:modified>
</cp:coreProperties>
</file>