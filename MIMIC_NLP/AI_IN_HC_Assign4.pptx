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82"/>
  </p:normalViewPr>
  <p:slideViewPr>
    <p:cSldViewPr snapToGrid="0">
      <p:cViewPr varScale="1">
        <p:scale>
          <a:sx n="90" d="100"/>
          <a:sy n="90" d="100"/>
        </p:scale>
        <p:origin x="23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4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4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7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7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0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94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5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04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3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1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6F3572D-BBB3-A547-B371-1DFDBD80713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CF02971-0A39-014D-8CA1-72DA442F72E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1039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y.clevelandclinic.org/health/diseases/22963-hypovolemia" TargetMode="External"/><Relationship Id="rId2" Type="http://schemas.openxmlformats.org/officeDocument/2006/relationships/hyperlink" Target="https://www.mayoclinic.org/symptoms/hypoxemia/basics/definition/sym-20050930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B7FE8-03D0-CE33-53F4-C0218BEDD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Mimic NLP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58971-823B-85F1-5B37-6F6920F03E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AI in healthcare</a:t>
            </a:r>
          </a:p>
          <a:p>
            <a:r>
              <a:rPr lang="en-US" dirty="0"/>
              <a:t>Owen </a:t>
            </a:r>
            <a:r>
              <a:rPr lang="en-US" dirty="0" err="1"/>
              <a:t>Mccormack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485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7C0D-B35C-AD1C-09B7-4F74BA23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diagnoses of interest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26524-0634-2086-7B88-E5C2176B8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7213" y="2228003"/>
            <a:ext cx="4413596" cy="3633047"/>
          </a:xfrm>
        </p:spPr>
        <p:txBody>
          <a:bodyPr>
            <a:normAutofit/>
          </a:bodyPr>
          <a:lstStyle/>
          <a:p>
            <a:r>
              <a:rPr lang="en-US" sz="1600" dirty="0"/>
              <a:t>Focus was on </a:t>
            </a:r>
            <a:r>
              <a:rPr lang="en-US" sz="1600" b="1" dirty="0"/>
              <a:t>discharge notes </a:t>
            </a:r>
            <a:r>
              <a:rPr lang="en-US" sz="1600" dirty="0"/>
              <a:t>related to </a:t>
            </a:r>
            <a:r>
              <a:rPr lang="en-US" sz="1600" b="1" dirty="0"/>
              <a:t>hypoxemia</a:t>
            </a:r>
            <a:r>
              <a:rPr lang="en-US" sz="1600" dirty="0"/>
              <a:t> and </a:t>
            </a:r>
            <a:r>
              <a:rPr lang="en-US" sz="1600" b="1" dirty="0"/>
              <a:t>hypovolemia</a:t>
            </a:r>
          </a:p>
          <a:p>
            <a:r>
              <a:rPr lang="en-US" sz="1600" dirty="0">
                <a:hlinkClick r:id="rId2"/>
              </a:rPr>
              <a:t>Hypoxemia</a:t>
            </a:r>
            <a:r>
              <a:rPr lang="en-US" sz="1600" dirty="0"/>
              <a:t> (icd9 79902) is a low level of oxygen in the blood, causes are are related to problems with blood or blood flow, such as Anemia, or breathing conditions, such as Asthma.</a:t>
            </a:r>
          </a:p>
          <a:p>
            <a:r>
              <a:rPr lang="en-US" sz="1600" dirty="0">
                <a:hlinkClick r:id="rId3"/>
              </a:rPr>
              <a:t>Hypovolemia</a:t>
            </a:r>
            <a:r>
              <a:rPr lang="en-US" sz="1600" dirty="0"/>
              <a:t> (icd9 27652) is when a patient has a low volume of fluid (water, blood, lymphatic fluid) in their body. It can be caused by injuries, internal bleeding or other conditions.</a:t>
            </a:r>
          </a:p>
        </p:txBody>
      </p:sp>
      <p:pic>
        <p:nvPicPr>
          <p:cNvPr id="1026" name="Picture 2" descr="Hypovolemia: What Is It, Causes, Signs, and More | Osmosis">
            <a:extLst>
              <a:ext uri="{FF2B5EF4-FFF2-40B4-BE49-F238E27FC236}">
                <a16:creationId xmlns:a16="http://schemas.microsoft.com/office/drawing/2014/main" id="{634563F3-C77E-9C01-0DCE-F6918747020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14" y="2104022"/>
            <a:ext cx="3166690" cy="230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CABFF4-C878-B4ED-A329-3E98A0CD5C38}"/>
              </a:ext>
            </a:extLst>
          </p:cNvPr>
          <p:cNvSpPr txBox="1"/>
          <p:nvPr/>
        </p:nvSpPr>
        <p:spPr>
          <a:xfrm>
            <a:off x="402814" y="4286657"/>
            <a:ext cx="26276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www.osmosis.org</a:t>
            </a:r>
            <a:r>
              <a:rPr lang="en-US" sz="1000" dirty="0"/>
              <a:t>/answers/hypovolemia</a:t>
            </a:r>
          </a:p>
        </p:txBody>
      </p:sp>
      <p:pic>
        <p:nvPicPr>
          <p:cNvPr id="1034" name="Picture 10" descr="Hypoxemia: Warning Signs &amp; Effective Treatments for Low Oxygen">
            <a:extLst>
              <a:ext uri="{FF2B5EF4-FFF2-40B4-BE49-F238E27FC236}">
                <a16:creationId xmlns:a16="http://schemas.microsoft.com/office/drawing/2014/main" id="{8551C561-C724-9648-D075-BA2D8734E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504" y="2228003"/>
            <a:ext cx="3627709" cy="310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BCC0DA-56E7-D619-A8D0-7A514CAC13CF}"/>
              </a:ext>
            </a:extLst>
          </p:cNvPr>
          <p:cNvSpPr txBox="1"/>
          <p:nvPr/>
        </p:nvSpPr>
        <p:spPr>
          <a:xfrm>
            <a:off x="3694500" y="5332540"/>
            <a:ext cx="2401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ckbirlahospitals.com</a:t>
            </a:r>
            <a:r>
              <a:rPr lang="en-US" sz="1000" dirty="0"/>
              <a:t>/</a:t>
            </a:r>
            <a:r>
              <a:rPr lang="en-US" sz="1000" dirty="0" err="1"/>
              <a:t>bmb</a:t>
            </a:r>
            <a:r>
              <a:rPr lang="en-US" sz="1000" dirty="0"/>
              <a:t>/blog/hypoxemia-early-signs-and-treatments-for-low-blood-oxygen-levels</a:t>
            </a:r>
          </a:p>
        </p:txBody>
      </p:sp>
    </p:spTree>
    <p:extLst>
      <p:ext uri="{BB962C8B-B14F-4D97-AF65-F5344CB8AC3E}">
        <p14:creationId xmlns:p14="http://schemas.microsoft.com/office/powerpoint/2010/main" val="39834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FBAAA-0F4D-BB8A-3377-955907F4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Extracting Mimic iii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578317-8E81-8F2F-0271-F687BC6218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3872" y="2411899"/>
            <a:ext cx="5744545" cy="395916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205DA-F128-6478-5D24-1A5DE83150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NOTEEVENTS,  DIAGNOSES_ICD, and D_ICD_DIAGNOSES tables were used to extract data.</a:t>
            </a:r>
          </a:p>
          <a:p>
            <a:r>
              <a:rPr lang="en-US" dirty="0"/>
              <a:t>Both diagnoses tables were joined with NOTEEVENTS on </a:t>
            </a:r>
            <a:r>
              <a:rPr lang="en-US" i="1" dirty="0" err="1"/>
              <a:t>hadm_id</a:t>
            </a:r>
            <a:r>
              <a:rPr lang="en-US" dirty="0"/>
              <a:t>, then filtered by icd9_codes for hypoxemia (79902) and hypovolemia (27652)</a:t>
            </a:r>
          </a:p>
          <a:p>
            <a:r>
              <a:rPr lang="en-US" dirty="0"/>
              <a:t>Only notes with category discharge summary were selected, other columns were dropped to save memory.</a:t>
            </a:r>
          </a:p>
        </p:txBody>
      </p:sp>
    </p:spTree>
    <p:extLst>
      <p:ext uri="{BB962C8B-B14F-4D97-AF65-F5344CB8AC3E}">
        <p14:creationId xmlns:p14="http://schemas.microsoft.com/office/powerpoint/2010/main" val="46149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3B7A-3FF9-5979-01F4-5C69411E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Tokenization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1EEB61-5746-9E9E-C10D-FCC60C495B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338388"/>
            <a:ext cx="5422900" cy="341153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24820-BFA9-15FB-38AC-D58AE0D994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With the filtered notes, spacy tokenization was applied to create a CLEAN_NOTES column</a:t>
            </a:r>
          </a:p>
          <a:p>
            <a:r>
              <a:rPr lang="en-US" dirty="0"/>
              <a:t>For each token, the lemmatized token was taken and punctuation and </a:t>
            </a:r>
            <a:r>
              <a:rPr lang="en-US" dirty="0" err="1"/>
              <a:t>stopwords</a:t>
            </a:r>
            <a:r>
              <a:rPr lang="en-US" dirty="0"/>
              <a:t> were filtered out</a:t>
            </a:r>
          </a:p>
          <a:p>
            <a:r>
              <a:rPr lang="en-US" dirty="0"/>
              <a:t>Applying this to each filtered notes (~2700) takes a while, so results are written to a csv for quicker loading on subsequent runs</a:t>
            </a:r>
          </a:p>
        </p:txBody>
      </p:sp>
    </p:spTree>
    <p:extLst>
      <p:ext uri="{BB962C8B-B14F-4D97-AF65-F5344CB8AC3E}">
        <p14:creationId xmlns:p14="http://schemas.microsoft.com/office/powerpoint/2010/main" val="1048692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9829-6F55-55A0-B567-71B94259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3: Spacy Extracted Entities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9E6B0-E492-B376-27FF-985E62B42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6254" y="1924518"/>
            <a:ext cx="3564688" cy="3797855"/>
          </a:xfrm>
        </p:spPr>
        <p:txBody>
          <a:bodyPr>
            <a:normAutofit/>
          </a:bodyPr>
          <a:lstStyle/>
          <a:p>
            <a:r>
              <a:rPr lang="en-US" dirty="0"/>
              <a:t>When using Spacy to extract entities, many general terms are taken as seen in a random tokenized note</a:t>
            </a:r>
          </a:p>
          <a:p>
            <a:r>
              <a:rPr lang="en-US" dirty="0"/>
              <a:t>Many important entities related to diagnoses, drugs, and readings are missed.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F949AD-3891-1F77-963C-3ECAD6C20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2037021"/>
            <a:ext cx="7772400" cy="435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98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AE0D-76D6-2F13-EB83-3F9E2E59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 (cont.) additional Spacy NER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4841D4-CD48-B0D2-C6D0-6A85D4322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753" y="1917291"/>
            <a:ext cx="8432494" cy="475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2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17C1-0041-1F57-2082-21BEA6BC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</a:t>
            </a:r>
            <a:r>
              <a:rPr lang="en-US" dirty="0" err="1"/>
              <a:t>Scispacy</a:t>
            </a:r>
            <a:r>
              <a:rPr lang="en-US" dirty="0"/>
              <a:t> Named Entity Recognition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F84FDE-E096-1FA0-4E8C-7C0C494920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1" y="2080430"/>
            <a:ext cx="7579142" cy="427612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34870-1FB8-F062-DE26-CB2944B24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0333" y="2688701"/>
            <a:ext cx="3510116" cy="3059582"/>
          </a:xfrm>
        </p:spPr>
        <p:txBody>
          <a:bodyPr/>
          <a:lstStyle/>
          <a:p>
            <a:r>
              <a:rPr lang="en-US" dirty="0"/>
              <a:t>If we apply </a:t>
            </a:r>
            <a:r>
              <a:rPr lang="en-US" dirty="0" err="1"/>
              <a:t>Scispacy</a:t>
            </a:r>
            <a:r>
              <a:rPr lang="en-US" dirty="0"/>
              <a:t> to the same set of tokens, we see it can identify many more medically meaningful terms such as “facial droop”, “allergy” or “stroke”</a:t>
            </a:r>
          </a:p>
        </p:txBody>
      </p:sp>
    </p:spTree>
    <p:extLst>
      <p:ext uri="{BB962C8B-B14F-4D97-AF65-F5344CB8AC3E}">
        <p14:creationId xmlns:p14="http://schemas.microsoft.com/office/powerpoint/2010/main" val="1926681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D01B-C840-48E0-CDB4-A3116234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(CONT.) Additional </a:t>
            </a:r>
            <a:r>
              <a:rPr lang="en-US" dirty="0" err="1"/>
              <a:t>SciSpacy</a:t>
            </a:r>
            <a:r>
              <a:rPr lang="en-US" dirty="0"/>
              <a:t> 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B18AE-E897-AF86-8489-706C62841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518" y="1946788"/>
            <a:ext cx="8364963" cy="471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6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FCDA-A2F5-8C42-B3C6-4152C9EA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5: </a:t>
            </a:r>
            <a:r>
              <a:rPr lang="en-US" dirty="0" err="1"/>
              <a:t>Medspacy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10CAF8-A8BB-BFDB-6109-47BC60FCAE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22077" y="1914353"/>
            <a:ext cx="3830313" cy="434102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EBA0-5406-65F7-C43D-C68A9BE15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55858" y="2094528"/>
            <a:ext cx="3454951" cy="3442315"/>
          </a:xfrm>
        </p:spPr>
        <p:txBody>
          <a:bodyPr/>
          <a:lstStyle/>
          <a:p>
            <a:r>
              <a:rPr lang="en-US" dirty="0" err="1"/>
              <a:t>Medspacy</a:t>
            </a:r>
            <a:r>
              <a:rPr lang="en-US" dirty="0"/>
              <a:t> has many tools specific to medical notes that come in handy for text processing. I used the </a:t>
            </a:r>
            <a:r>
              <a:rPr lang="en-US" dirty="0" err="1"/>
              <a:t>sectionizer</a:t>
            </a:r>
            <a:r>
              <a:rPr lang="en-US" dirty="0"/>
              <a:t> and tokenizer to retokenize the filtered notes with some mimic specific rules (such as removing scrubbed date formatting)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F7497C-9521-1ADD-6855-6223F32B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36" y="1914353"/>
            <a:ext cx="3952453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03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29ED4-2561-0A67-DD25-99C226AA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5: </a:t>
            </a:r>
            <a:r>
              <a:rPr lang="en-US" dirty="0" err="1"/>
              <a:t>Medspacy</a:t>
            </a:r>
            <a:r>
              <a:rPr lang="en-US" dirty="0"/>
              <a:t> (Cont.)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F7150C-73E9-B00F-1D99-1A5AD1BE88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64224" y="2227262"/>
            <a:ext cx="5280605" cy="4299922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42428F-B9AC-8080-46AA-DCB264AFC7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259619" y="2227262"/>
            <a:ext cx="3784330" cy="4288908"/>
          </a:xfrm>
        </p:spPr>
      </p:pic>
    </p:spTree>
    <p:extLst>
      <p:ext uri="{BB962C8B-B14F-4D97-AF65-F5344CB8AC3E}">
        <p14:creationId xmlns:p14="http://schemas.microsoft.com/office/powerpoint/2010/main" val="1641278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164F-8BE1-A22F-1F5E-4E47BDE1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6: Word2Vec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351566-220F-2521-61C3-0A8DE414A4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488283"/>
            <a:ext cx="5422900" cy="311174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DDBD2-AD50-6CF9-2BB6-A363455DA2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Both diagnoses were loaded into </a:t>
            </a:r>
            <a:r>
              <a:rPr lang="en-US" dirty="0" err="1"/>
              <a:t>gensim</a:t>
            </a:r>
            <a:r>
              <a:rPr lang="en-US" dirty="0"/>
              <a:t> Word2Vec to generate embeddings for the corpus of all of the notes.</a:t>
            </a:r>
          </a:p>
        </p:txBody>
      </p:sp>
    </p:spTree>
    <p:extLst>
      <p:ext uri="{BB962C8B-B14F-4D97-AF65-F5344CB8AC3E}">
        <p14:creationId xmlns:p14="http://schemas.microsoft.com/office/powerpoint/2010/main" val="1076107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F165-87DB-F4CB-F879-6B34B1A7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6 (Cont.) : Word2vec Hypoxemia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49CF8E-0F12-4F7B-BDAB-EC8BF69906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1" y="1991289"/>
            <a:ext cx="4934706" cy="449484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9B70E-ACFF-DBB9-4B36-08846E08EE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Here we see the word vector for hypoxemia and notice that the similar words to Oxygen are related (ex. Saturation, o2, supplemental, </a:t>
            </a:r>
            <a:r>
              <a:rPr lang="en-US" dirty="0" err="1"/>
              <a:t>bipap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5899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E3A4E-E136-528C-0358-1A537638A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6 (Cont.) : Word2vec Hypovolemia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20C6F8-D9FE-3BDE-181D-E5C94BE4DC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2417" y="1998663"/>
            <a:ext cx="4448009" cy="439844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2B5F7-88EC-439F-B7AE-0F55C9876A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the same manner, the hypovolemia word embeddings and similar words are related topics to blood (ex. </a:t>
            </a:r>
            <a:r>
              <a:rPr lang="en-US" dirty="0" err="1"/>
              <a:t>Rdw</a:t>
            </a:r>
            <a:r>
              <a:rPr lang="en-US" dirty="0"/>
              <a:t>, anemic, platelet)</a:t>
            </a:r>
          </a:p>
        </p:txBody>
      </p:sp>
    </p:spTree>
    <p:extLst>
      <p:ext uri="{BB962C8B-B14F-4D97-AF65-F5344CB8AC3E}">
        <p14:creationId xmlns:p14="http://schemas.microsoft.com/office/powerpoint/2010/main" val="117725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85D2-02E2-D7DF-1F7D-E8C7D06C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7:  TSNE Plots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D39668-91BC-77A8-C2BB-ECA63A70CA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10630" y="1932295"/>
            <a:ext cx="4189072" cy="467961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51D22-AB42-9B8D-C87F-64F3A5A851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TSNE plots were generated through the method described in the lecture, using </a:t>
            </a:r>
            <a:r>
              <a:rPr lang="en-US" dirty="0" err="1"/>
              <a:t>sklearn</a:t>
            </a:r>
            <a:r>
              <a:rPr lang="en-US" dirty="0"/>
              <a:t> and matplotlib libraries</a:t>
            </a:r>
          </a:p>
        </p:txBody>
      </p:sp>
    </p:spTree>
    <p:extLst>
      <p:ext uri="{BB962C8B-B14F-4D97-AF65-F5344CB8AC3E}">
        <p14:creationId xmlns:p14="http://schemas.microsoft.com/office/powerpoint/2010/main" val="37169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F4247-CD62-D544-0DCB-6DE0F98B2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7 (Cont.): Hypoxemia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B5F247-953C-2A40-8B2F-97E15C9883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1" y="2015030"/>
            <a:ext cx="4903792" cy="484297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9FB71-2DE6-CC8A-1E69-0A121E9D2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3775587"/>
            <a:ext cx="5422392" cy="2085463"/>
          </a:xfrm>
        </p:spPr>
        <p:txBody>
          <a:bodyPr/>
          <a:lstStyle/>
          <a:p>
            <a:r>
              <a:rPr lang="en-US" dirty="0"/>
              <a:t>With a sample size of 350 words the hypoxemia plot does not have any large defined groupings but zooming in reveals some related clusters</a:t>
            </a:r>
          </a:p>
          <a:p>
            <a:r>
              <a:rPr lang="en-US" dirty="0"/>
              <a:t>Ex. Platelet, hypoglycemia, and </a:t>
            </a:r>
            <a:r>
              <a:rPr lang="en-US" dirty="0" err="1"/>
              <a:t>gtt</a:t>
            </a:r>
            <a:r>
              <a:rPr lang="en-US" dirty="0"/>
              <a:t> (Glucose Tolerance Test) in the top right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F956E-98AC-C85E-9B1B-DDE6CA95D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311" y="2453763"/>
            <a:ext cx="35433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25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CDB4-0B82-F28C-FD2F-AE81C760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7 (Cont.): hypovolemia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EB0E4-9438-BF6D-4F45-C3D35F47CB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12919" y="1997007"/>
            <a:ext cx="4915201" cy="482432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5A4A0-4F28-2956-7AC6-8C2DBE34D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words for hypovolemia are also less defined groupings.</a:t>
            </a:r>
          </a:p>
          <a:p>
            <a:r>
              <a:rPr lang="en-US" dirty="0"/>
              <a:t>There are some connections such as prostaglandin and </a:t>
            </a:r>
            <a:r>
              <a:rPr lang="en-US" dirty="0" err="1"/>
              <a:t>alkization</a:t>
            </a:r>
            <a:r>
              <a:rPr lang="en-US" dirty="0"/>
              <a:t> in the bottom left</a:t>
            </a:r>
          </a:p>
        </p:txBody>
      </p:sp>
    </p:spTree>
    <p:extLst>
      <p:ext uri="{BB962C8B-B14F-4D97-AF65-F5344CB8AC3E}">
        <p14:creationId xmlns:p14="http://schemas.microsoft.com/office/powerpoint/2010/main" val="330553659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261</TotalTime>
  <Words>596</Words>
  <Application>Microsoft Macintosh PowerPoint</Application>
  <PresentationFormat>Widescreen</PresentationFormat>
  <Paragraphs>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Wingdings 2</vt:lpstr>
      <vt:lpstr>Dividend</vt:lpstr>
      <vt:lpstr>Mimic NLP</vt:lpstr>
      <vt:lpstr> diagnoses of interest</vt:lpstr>
      <vt:lpstr>Part 1: Extracting Mimic iii Data</vt:lpstr>
      <vt:lpstr>Part 2: Tokenization</vt:lpstr>
      <vt:lpstr>Part 3: Spacy Extracted Entities</vt:lpstr>
      <vt:lpstr>Part 3 (cont.) additional Spacy NER</vt:lpstr>
      <vt:lpstr>Part 4: Scispacy Named Entity Recognition</vt:lpstr>
      <vt:lpstr>Part 4 (CONT.) Additional SciSpacy NER</vt:lpstr>
      <vt:lpstr>Part 5: Medspacy</vt:lpstr>
      <vt:lpstr>Part 5: Medspacy (Cont.)</vt:lpstr>
      <vt:lpstr>Part 6: Word2Vec</vt:lpstr>
      <vt:lpstr>Part 6 (Cont.) : Word2vec Hypoxemia</vt:lpstr>
      <vt:lpstr>Part 6 (Cont.) : Word2vec Hypovolemia</vt:lpstr>
      <vt:lpstr>Part 7:  TSNE Plots</vt:lpstr>
      <vt:lpstr>Part 7 (Cont.): Hypoxemia Plot</vt:lpstr>
      <vt:lpstr>Part 7 (Cont.): hypovolemia 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 McCormack</dc:creator>
  <cp:lastModifiedBy>Owen McCormack</cp:lastModifiedBy>
  <cp:revision>9</cp:revision>
  <dcterms:created xsi:type="dcterms:W3CDTF">2025-02-17T12:47:16Z</dcterms:created>
  <dcterms:modified xsi:type="dcterms:W3CDTF">2025-02-17T17:08:32Z</dcterms:modified>
</cp:coreProperties>
</file>