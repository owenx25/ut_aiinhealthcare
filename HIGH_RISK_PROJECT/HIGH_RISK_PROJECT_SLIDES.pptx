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66" r:id="rId5"/>
    <p:sldId id="265" r:id="rId6"/>
    <p:sldId id="259" r:id="rId7"/>
    <p:sldId id="262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13"/>
  </p:normalViewPr>
  <p:slideViewPr>
    <p:cSldViewPr snapToGrid="0">
      <p:cViewPr varScale="1">
        <p:scale>
          <a:sx n="105" d="100"/>
          <a:sy n="105" d="100"/>
        </p:scale>
        <p:origin x="84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5CC54E-3E9C-F343-8534-52CC0788ADE7}" type="datetimeFigureOut">
              <a:rPr lang="en-US" smtClean="0"/>
              <a:t>4/25/25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3EFFB8-C4E2-6F4F-8DA9-2D9B89DF2A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21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chose to cover ED fast-track </a:t>
            </a:r>
            <a:r>
              <a:rPr lang="en-US" dirty="0" err="1"/>
              <a:t>predicition</a:t>
            </a:r>
            <a:r>
              <a:rPr lang="en-US" dirty="0"/>
              <a:t> for high risk project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6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dept of hospital staffed by doctors, nurses, techs</a:t>
            </a:r>
          </a:p>
          <a:p>
            <a:r>
              <a:rPr lang="en-US" dirty="0"/>
              <a:t>- Ambulances bring in new patients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622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Subsection of ED dedicated to lower acuity patients, ex sprains/fractures, lacerations, sore throats, rashes, insect bites</a:t>
            </a:r>
          </a:p>
          <a:p>
            <a:r>
              <a:rPr lang="en-US" dirty="0"/>
              <a:t>- The patients come in with minor issues increase occupancy and leads to longer LOS for all patients, lower satisfaction, higher wait times</a:t>
            </a:r>
          </a:p>
          <a:p>
            <a:r>
              <a:rPr lang="en-US" dirty="0"/>
              <a:t>- want to maximize patient flow!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02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my research question</a:t>
            </a:r>
          </a:p>
          <a:p>
            <a:r>
              <a:rPr lang="en-US" dirty="0"/>
              <a:t>- My fast-track criteria (based on FT papers) was 4 or 5 ESI score or 3 with a LOS less than 1 hour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8317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 de-identified Multi-modal ED data from Stanford Adult Ed from 2020-2022</a:t>
            </a:r>
          </a:p>
          <a:p>
            <a:r>
              <a:rPr lang="en-US" dirty="0"/>
              <a:t>- During height of covid</a:t>
            </a:r>
          </a:p>
          <a:p>
            <a:r>
              <a:rPr lang="en-US" dirty="0"/>
              <a:t>- covers information like demographics, triage vitals, acuity, </a:t>
            </a:r>
            <a:r>
              <a:rPr lang="en-US" dirty="0" err="1"/>
              <a:t>pmh</a:t>
            </a:r>
            <a:r>
              <a:rPr lang="en-US" dirty="0"/>
              <a:t>, home meds, labs, time series vitals, and waveform data</a:t>
            </a:r>
          </a:p>
          <a:p>
            <a:r>
              <a:rPr lang="en-US" dirty="0"/>
              <a:t>- What did I use?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891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Binary classifier model combining unstructured text and tabular numerical data from MC-MED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</a:t>
            </a:r>
            <a:r>
              <a:rPr lang="en-US" b="0" dirty="0" err="1">
                <a:solidFill>
                  <a:srgbClr val="839496"/>
                </a:solidFill>
                <a:effectLst/>
                <a:latin typeface="Menlo" panose="020B0609030804020204" pitchFamily="49" charset="0"/>
              </a:rPr>
              <a:t>BioClinicalBERT</a:t>
            </a:r>
            <a:r>
              <a:rPr lang="en-US" b="0" dirty="0">
                <a:solidFill>
                  <a:srgbClr val="8394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b="0" dirty="0" err="1">
                <a:solidFill>
                  <a:srgbClr val="839496"/>
                </a:solidFill>
                <a:effectLst/>
                <a:latin typeface="Menlo" panose="020B0609030804020204" pitchFamily="49" charset="0"/>
              </a:rPr>
              <a:t>PubMedBERT</a:t>
            </a:r>
            <a:r>
              <a:rPr lang="en-US" b="0" dirty="0">
                <a:solidFill>
                  <a:srgbClr val="839496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b="0" dirty="0" err="1">
                <a:solidFill>
                  <a:srgbClr val="839496"/>
                </a:solidFill>
                <a:effectLst/>
                <a:latin typeface="Menlo" panose="020B0609030804020204" pitchFamily="49" charset="0"/>
              </a:rPr>
              <a:t>BlueBERT</a:t>
            </a:r>
            <a:r>
              <a:rPr lang="en-US" b="0" dirty="0">
                <a:solidFill>
                  <a:srgbClr val="839496"/>
                </a:solidFill>
                <a:effectLst/>
                <a:latin typeface="Menlo" panose="020B0609030804020204" pitchFamily="49" charset="0"/>
              </a:rPr>
              <a:t>, and a standard BERT base </a:t>
            </a:r>
            <a:r>
              <a:rPr lang="en-US" b="0" dirty="0">
                <a:solidFill>
                  <a:srgbClr val="859900"/>
                </a:solidFill>
                <a:effectLst/>
                <a:latin typeface="Menlo" panose="020B0609030804020204" pitchFamily="49" charset="0"/>
              </a:rPr>
              <a:t>used for embeddings</a:t>
            </a:r>
            <a:r>
              <a:rPr lang="en-US" b="0" dirty="0">
                <a:solidFill>
                  <a:srgbClr val="839496"/>
                </a:solidFill>
                <a:effectLst/>
                <a:latin typeface="Menlo" panose="020B0609030804020204" pitchFamily="49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80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- 0.82 ROC-AUC for the highest performing BERT (</a:t>
            </a:r>
            <a:r>
              <a:rPr lang="en-US" dirty="0" err="1"/>
              <a:t>BioClinical</a:t>
            </a:r>
            <a:r>
              <a:rPr lang="en-US" dirty="0"/>
              <a:t> BERT)</a:t>
            </a:r>
          </a:p>
          <a:p>
            <a:r>
              <a:rPr lang="en-US" dirty="0"/>
              <a:t>- PubMed BERT also led in Accuracy, Precision, and F1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9419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Chief Complaint was the most important feature across modalities</a:t>
            </a:r>
          </a:p>
          <a:p>
            <a:r>
              <a:rPr lang="en-US" dirty="0"/>
              <a:t>- Triage Vitals, age, and MEWs Score were the most important tabular features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8429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Would be interesting to build FE where the vitals and text could be collected</a:t>
            </a:r>
          </a:p>
          <a:p>
            <a:r>
              <a:rPr lang="en-US" dirty="0"/>
              <a:t>- Add additional modalities like audio or video to increase the context of the patients condition</a:t>
            </a:r>
          </a:p>
          <a:p>
            <a:r>
              <a:rPr lang="en-US" dirty="0"/>
              <a:t>- Run with a higher token limit for BERT since some </a:t>
            </a:r>
            <a:r>
              <a:rPr lang="en-US" dirty="0" err="1"/>
              <a:t>pmh</a:t>
            </a:r>
            <a:r>
              <a:rPr lang="en-US" dirty="0"/>
              <a:t> and home meds had to be excluded</a:t>
            </a:r>
          </a:p>
          <a:p>
            <a:r>
              <a:rPr lang="en-US" dirty="0"/>
              <a:t>- Look at hospital FT criteria for ground truth, not part of MC-MED and hard to find!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EFFB8-C4E2-6F4F-8DA9-2D9B89DF2A7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5944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76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9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960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88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72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39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67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364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267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9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44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6B5CED7D-4648-9941-B288-723EA5404E1C}" type="datetimeFigureOut">
              <a:rPr lang="en-US" smtClean="0"/>
              <a:t>3/29/25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A414EB35-AC19-3042-A477-5C687323E55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33244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1.png"/><Relationship Id="rId5" Type="http://schemas.openxmlformats.org/officeDocument/2006/relationships/image" Target="../media/image2.jpe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jpeg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.png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389FE-8F22-AA47-FA09-387ED9DAC4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ED Fast-Track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3733FB-132D-F0FB-7DB7-2974C5288D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AI in Healthcare - High Risk Project</a:t>
            </a:r>
          </a:p>
        </p:txBody>
      </p:sp>
      <p:pic>
        <p:nvPicPr>
          <p:cNvPr id="22" name="Audio 21">
            <a:extLst>
              <a:ext uri="{FF2B5EF4-FFF2-40B4-BE49-F238E27FC236}">
                <a16:creationId xmlns:a16="http://schemas.microsoft.com/office/drawing/2014/main" id="{02C7D04F-374C-3B06-262C-F9770C800B3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862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254"/>
    </mc:Choice>
    <mc:Fallback>
      <p:transition spd="slow" advTm="425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1A8AF9B1-7D64-4564-969F-CB2B27ED9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Surprise medical bills: The doctor is not in your insurance plan - The  Boston Globe">
            <a:extLst>
              <a:ext uri="{FF2B5EF4-FFF2-40B4-BE49-F238E27FC236}">
                <a16:creationId xmlns:a16="http://schemas.microsoft.com/office/drawing/2014/main" id="{EC49CB42-E33B-745E-8311-E8CAF33CF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73"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8D854759-2D3E-4B54-A780-D84D49E80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8" y="457200"/>
            <a:ext cx="3703320" cy="5935132"/>
            <a:chOff x="438068" y="457200"/>
            <a:chExt cx="3703320" cy="5935132"/>
          </a:xfrm>
        </p:grpSpPr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459856EA-FC8A-44D1-BC3D-2B8EDD0C86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618067"/>
              <a:ext cx="3702134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35" name="Rectangle 1034">
              <a:extLst>
                <a:ext uri="{FF2B5EF4-FFF2-40B4-BE49-F238E27FC236}">
                  <a16:creationId xmlns:a16="http://schemas.microsoft.com/office/drawing/2014/main" id="{C1038B56-933B-44DD-AF10-63436FCCFB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8B90DE-6DEE-A3DA-E1B2-3A6E95DCE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3412067" cy="1372177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Hospital Emergency Department (ED)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CEAC6-1CF4-90C8-4E9C-8FEFA170F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438399"/>
            <a:ext cx="3415074" cy="35644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Patients can arrive without appointments for 24/7 care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Conditions can range from non-urgent to critical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Wait times depend on factors like occupancy, staff, and resources available</a:t>
            </a:r>
          </a:p>
        </p:txBody>
      </p:sp>
      <p:pic>
        <p:nvPicPr>
          <p:cNvPr id="20" name="Audio 19">
            <a:extLst>
              <a:ext uri="{FF2B5EF4-FFF2-40B4-BE49-F238E27FC236}">
                <a16:creationId xmlns:a16="http://schemas.microsoft.com/office/drawing/2014/main" id="{8FBC23DB-7A26-F90F-94C7-0FFB9A86641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574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 advTm="14452"/>
    </mc:Choice>
    <mc:Fallback>
      <p:transition spd="slow" advTm="1445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058">
            <a:extLst>
              <a:ext uri="{FF2B5EF4-FFF2-40B4-BE49-F238E27FC236}">
                <a16:creationId xmlns:a16="http://schemas.microsoft.com/office/drawing/2014/main" id="{1E5E4503-CC62-4DA9-9121-0A15719984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1" name="Rectangle 2060">
            <a:extLst>
              <a:ext uri="{FF2B5EF4-FFF2-40B4-BE49-F238E27FC236}">
                <a16:creationId xmlns:a16="http://schemas.microsoft.com/office/drawing/2014/main" id="{D8D61A1B-3C4C-4F0E-965F-15837624C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00E56243-9701-44E8-8A92-3194333051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5" name="Rectangle 2064">
            <a:extLst>
              <a:ext uri="{FF2B5EF4-FFF2-40B4-BE49-F238E27FC236}">
                <a16:creationId xmlns:a16="http://schemas.microsoft.com/office/drawing/2014/main" id="{5B1F1915-E076-48EB-BB4A-EE9808EB4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67" name="Rectangle 2066">
            <a:extLst>
              <a:ext uri="{FF2B5EF4-FFF2-40B4-BE49-F238E27FC236}">
                <a16:creationId xmlns:a16="http://schemas.microsoft.com/office/drawing/2014/main" id="{CB2C2501-B64D-4866-AF9F-64F65F7CC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6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South Florida medical center opens fast track emergency room">
            <a:extLst>
              <a:ext uri="{FF2B5EF4-FFF2-40B4-BE49-F238E27FC236}">
                <a16:creationId xmlns:a16="http://schemas.microsoft.com/office/drawing/2014/main" id="{7A023D93-94A6-B095-028D-441133E628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83" r="11468" b="1"/>
          <a:stretch/>
        </p:blipFill>
        <p:spPr bwMode="auto">
          <a:xfrm>
            <a:off x="20" y="10"/>
            <a:ext cx="4544548" cy="4219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New 'Fast Track' Emergency Service Opens in Bullitt County | Louisville KY  | UofL Health">
            <a:extLst>
              <a:ext uri="{FF2B5EF4-FFF2-40B4-BE49-F238E27FC236}">
                <a16:creationId xmlns:a16="http://schemas.microsoft.com/office/drawing/2014/main" id="{D2032887-470B-A355-B0D2-79250453A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94" r="5688" b="1"/>
          <a:stretch/>
        </p:blipFill>
        <p:spPr bwMode="auto">
          <a:xfrm>
            <a:off x="4628829" y="10"/>
            <a:ext cx="7563171" cy="4266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Long Beach Medical's New Fast Track Unit Will See You Now | MemorialCare">
            <a:extLst>
              <a:ext uri="{FF2B5EF4-FFF2-40B4-BE49-F238E27FC236}">
                <a16:creationId xmlns:a16="http://schemas.microsoft.com/office/drawing/2014/main" id="{E093CAEB-BF97-965C-70DC-E5674D57FC1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" r="-3" b="-3"/>
          <a:stretch/>
        </p:blipFill>
        <p:spPr bwMode="auto">
          <a:xfrm>
            <a:off x="20" y="4310260"/>
            <a:ext cx="4544548" cy="2547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9" name="Rectangle 2068">
            <a:extLst>
              <a:ext uri="{FF2B5EF4-FFF2-40B4-BE49-F238E27FC236}">
                <a16:creationId xmlns:a16="http://schemas.microsoft.com/office/drawing/2014/main" id="{B496DDB9-0BC9-40CD-B3AE-B57DC71D7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498" y="4267831"/>
            <a:ext cx="7552502" cy="2590169"/>
          </a:xfrm>
          <a:prstGeom prst="rect">
            <a:avLst/>
          </a:prstGeom>
          <a:solidFill>
            <a:schemeClr val="accent1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BBBB69-C904-6412-F6AA-989334D8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8740" y="4343986"/>
            <a:ext cx="6025836" cy="69582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Fast-Track  Area (FT)</a:t>
            </a:r>
          </a:p>
        </p:txBody>
      </p:sp>
      <p:sp>
        <p:nvSpPr>
          <p:cNvPr id="2071" name="Rectangle 2070">
            <a:extLst>
              <a:ext uri="{FF2B5EF4-FFF2-40B4-BE49-F238E27FC236}">
                <a16:creationId xmlns:a16="http://schemas.microsoft.com/office/drawing/2014/main" id="{03F4845B-54A6-46F4-B0A0-95B580A9F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05326" y="4220158"/>
            <a:ext cx="7689094" cy="9010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240816-1983-70B6-4558-33D0D444B91F}"/>
              </a:ext>
            </a:extLst>
          </p:cNvPr>
          <p:cNvSpPr txBox="1">
            <a:spLocks/>
          </p:cNvSpPr>
          <p:nvPr/>
        </p:nvSpPr>
        <p:spPr>
          <a:xfrm>
            <a:off x="4991082" y="4905103"/>
            <a:ext cx="6813248" cy="17189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FFFFF"/>
                </a:solidFill>
              </a:rPr>
              <a:t>Specific to low-acuity patients to get them in and out of the ED quickly</a:t>
            </a:r>
          </a:p>
          <a:p>
            <a:r>
              <a:rPr lang="en-US" dirty="0">
                <a:solidFill>
                  <a:srgbClr val="FFFFFF"/>
                </a:solidFill>
              </a:rPr>
              <a:t>Beneficial for waiting room occupancy, patient satisfaction, and length of stay for all patients</a:t>
            </a:r>
          </a:p>
        </p:txBody>
      </p:sp>
      <p:pic>
        <p:nvPicPr>
          <p:cNvPr id="23" name="Audio 22">
            <a:extLst>
              <a:ext uri="{FF2B5EF4-FFF2-40B4-BE49-F238E27FC236}">
                <a16:creationId xmlns:a16="http://schemas.microsoft.com/office/drawing/2014/main" id="{75039242-9A41-728F-C467-C84AE4A4B0E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0324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473"/>
    </mc:Choice>
    <mc:Fallback>
      <p:transition spd="slow" advTm="3447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1" name="Rectangle 6150">
            <a:extLst>
              <a:ext uri="{FF2B5EF4-FFF2-40B4-BE49-F238E27FC236}">
                <a16:creationId xmlns:a16="http://schemas.microsoft.com/office/drawing/2014/main" id="{2928117C-9446-4E7F-AE62-95E0F6DB5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153" name="Rectangle 6152">
            <a:extLst>
              <a:ext uri="{FF2B5EF4-FFF2-40B4-BE49-F238E27FC236}">
                <a16:creationId xmlns:a16="http://schemas.microsoft.com/office/drawing/2014/main" id="{84D30AFB-4D71-48B0-AA00-28EE92363A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155" name="Rectangle 6154">
            <a:extLst>
              <a:ext uri="{FF2B5EF4-FFF2-40B4-BE49-F238E27FC236}">
                <a16:creationId xmlns:a16="http://schemas.microsoft.com/office/drawing/2014/main" id="{96A0B76F-8010-4C62-B4B6-C5FC438C0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157" name="Rectangle 6156">
            <a:extLst>
              <a:ext uri="{FF2B5EF4-FFF2-40B4-BE49-F238E27FC236}">
                <a16:creationId xmlns:a16="http://schemas.microsoft.com/office/drawing/2014/main" id="{9FC936C0-4624-438D-BDD0-6B296BD640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159" name="Rectangle 6158">
            <a:extLst>
              <a:ext uri="{FF2B5EF4-FFF2-40B4-BE49-F238E27FC236}">
                <a16:creationId xmlns:a16="http://schemas.microsoft.com/office/drawing/2014/main" id="{E08D4B6A-8113-4DFB-B82E-B60CAC8E0A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6161" name="Rectangle 6160">
            <a:extLst>
              <a:ext uri="{FF2B5EF4-FFF2-40B4-BE49-F238E27FC236}">
                <a16:creationId xmlns:a16="http://schemas.microsoft.com/office/drawing/2014/main" id="{9822E561-F97C-4CBB-A9A6-A6BF6317B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7BC75-CEE8-54EE-74BB-857CB205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197" y="728332"/>
            <a:ext cx="4593780" cy="377999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3300" dirty="0">
                <a:solidFill>
                  <a:srgbClr val="FFFFFF"/>
                </a:solidFill>
              </a:rPr>
              <a:t>How can ML and ED Multi-Modal Data  Aid Triage staff in making fast-track decisions?</a:t>
            </a:r>
          </a:p>
        </p:txBody>
      </p:sp>
      <p:sp>
        <p:nvSpPr>
          <p:cNvPr id="6163" name="Rectangle 6162">
            <a:extLst>
              <a:ext uri="{FF2B5EF4-FFF2-40B4-BE49-F238E27FC236}">
                <a16:creationId xmlns:a16="http://schemas.microsoft.com/office/drawing/2014/main" id="{B01B0E58-A5C8-4CDA-A2E0-35DF94E59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620" y="457200"/>
            <a:ext cx="3511233" cy="9143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146" name="Picture 2" descr="ESI Triage Badge">
            <a:extLst>
              <a:ext uri="{FF2B5EF4-FFF2-40B4-BE49-F238E27FC236}">
                <a16:creationId xmlns:a16="http://schemas.microsoft.com/office/drawing/2014/main" id="{3FEFD5B4-839F-9888-4E0D-B1F763C81E1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6" r="-2" b="12906"/>
          <a:stretch/>
        </p:blipFill>
        <p:spPr bwMode="auto">
          <a:xfrm>
            <a:off x="6135489" y="467435"/>
            <a:ext cx="4329921" cy="3604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The Rising Problem of Emergency Department Wait Time | Blog">
            <a:extLst>
              <a:ext uri="{FF2B5EF4-FFF2-40B4-BE49-F238E27FC236}">
                <a16:creationId xmlns:a16="http://schemas.microsoft.com/office/drawing/2014/main" id="{A4E04BAB-96A7-D1E6-45AD-5635CDFFE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0149" y="4267409"/>
            <a:ext cx="4800600" cy="213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Audio 23">
            <a:extLst>
              <a:ext uri="{FF2B5EF4-FFF2-40B4-BE49-F238E27FC236}">
                <a16:creationId xmlns:a16="http://schemas.microsoft.com/office/drawing/2014/main" id="{6659D8EF-7520-D7F6-A3F9-6FB65E160AE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0759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6418"/>
    </mc:Choice>
    <mc:Fallback>
      <p:transition spd="slow" advTm="3641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 descr="Emergency Department | Stanford Health Care">
            <a:extLst>
              <a:ext uri="{FF2B5EF4-FFF2-40B4-BE49-F238E27FC236}">
                <a16:creationId xmlns:a16="http://schemas.microsoft.com/office/drawing/2014/main" id="{C208B9F0-3419-9D76-7FBD-A54D47C9D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85" r="14436" b="1"/>
          <a:stretch/>
        </p:blipFill>
        <p:spPr bwMode="auto">
          <a:xfrm>
            <a:off x="20" y="11"/>
            <a:ext cx="4578252" cy="2608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2" name="Rectangle 4111">
            <a:extLst>
              <a:ext uri="{FF2B5EF4-FFF2-40B4-BE49-F238E27FC236}">
                <a16:creationId xmlns:a16="http://schemas.microsoft.com/office/drawing/2014/main" id="{B1ACEF87-056E-4E77-899B-9E9A04E9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11819"/>
            <a:ext cx="4576634" cy="4235946"/>
          </a:xfrm>
          <a:prstGeom prst="rect">
            <a:avLst/>
          </a:prstGeom>
          <a:solidFill>
            <a:schemeClr val="accent1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06C0D6-F36D-C05F-7433-D950D1700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50" y="2701771"/>
            <a:ext cx="3412067" cy="897047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MC-MED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11548-2A0D-2526-47EE-A42032906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0" y="3782108"/>
            <a:ext cx="4253628" cy="240198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Published on PhysioNet March 3, 2025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Multi-modal ED data from Stanford Adult ED from 2020-2022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Pre-defined train, validation, and test splits that keep patients consistent</a:t>
            </a:r>
          </a:p>
        </p:txBody>
      </p:sp>
      <p:pic>
        <p:nvPicPr>
          <p:cNvPr id="4102" name="Picture 6" descr="Separate Adult and Pediatric Emergency Departments - Stanford Medicine  Children's Health">
            <a:extLst>
              <a:ext uri="{FF2B5EF4-FFF2-40B4-BE49-F238E27FC236}">
                <a16:creationId xmlns:a16="http://schemas.microsoft.com/office/drawing/2014/main" id="{492B4BFB-FB76-424A-9337-660D168A5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0" r="12215"/>
          <a:stretch/>
        </p:blipFill>
        <p:spPr bwMode="auto">
          <a:xfrm>
            <a:off x="4578270" y="-11"/>
            <a:ext cx="761373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4" name="Rectangle 4113">
            <a:extLst>
              <a:ext uri="{FF2B5EF4-FFF2-40B4-BE49-F238E27FC236}">
                <a16:creationId xmlns:a16="http://schemas.microsoft.com/office/drawing/2014/main" id="{DD0C6C3A-73B1-4E33-AD0D-8BCD35B714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30517" y="-46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6" name="Rectangle 4115">
            <a:extLst>
              <a:ext uri="{FF2B5EF4-FFF2-40B4-BE49-F238E27FC236}">
                <a16:creationId xmlns:a16="http://schemas.microsoft.com/office/drawing/2014/main" id="{303022F3-BFF5-4104-AE9A-399949DAF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39" y="2560620"/>
            <a:ext cx="4581144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21" name="Audio 20">
            <a:extLst>
              <a:ext uri="{FF2B5EF4-FFF2-40B4-BE49-F238E27FC236}">
                <a16:creationId xmlns:a16="http://schemas.microsoft.com/office/drawing/2014/main" id="{C54A6410-2C27-9EED-12A9-0B5020DEFB1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7167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 advTm="22345"/>
    </mc:Choice>
    <mc:Fallback>
      <p:transition spd="slow" advTm="2234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CF0E1-A2F6-CD3E-30B2-8F73B1539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Fast-Track Eligibility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511FB5-FF8A-F5C0-7B4A-781805D6A5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0644" y="2318002"/>
            <a:ext cx="10130712" cy="3144013"/>
          </a:xfrm>
        </p:spPr>
      </p:pic>
      <p:pic>
        <p:nvPicPr>
          <p:cNvPr id="24" name="Audio 23">
            <a:extLst>
              <a:ext uri="{FF2B5EF4-FFF2-40B4-BE49-F238E27FC236}">
                <a16:creationId xmlns:a16="http://schemas.microsoft.com/office/drawing/2014/main" id="{C33DFBD2-4EDD-83CA-4773-9AEC7E3EE64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5950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1940"/>
    </mc:Choice>
    <mc:Fallback>
      <p:transition spd="slow" advTm="419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FED74-ADC4-B968-911D-1636B8353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ROC-AUC</a:t>
            </a:r>
          </a:p>
        </p:txBody>
      </p:sp>
      <p:pic>
        <p:nvPicPr>
          <p:cNvPr id="9" name="Content Placeholder 8" descr="A graph of a curve&#10;&#10;AI-generated content may be incorrect.">
            <a:extLst>
              <a:ext uri="{FF2B5EF4-FFF2-40B4-BE49-F238E27FC236}">
                <a16:creationId xmlns:a16="http://schemas.microsoft.com/office/drawing/2014/main" id="{BA8574ED-A9AB-C1D5-87A8-475740FC3B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383474" y="1972328"/>
            <a:ext cx="5155931" cy="4288579"/>
          </a:xfrm>
        </p:spPr>
      </p:pic>
      <p:pic>
        <p:nvPicPr>
          <p:cNvPr id="11" name="Picture 10" descr="A group of colorful bars&#10;&#10;AI-generated content may be incorrect.">
            <a:extLst>
              <a:ext uri="{FF2B5EF4-FFF2-40B4-BE49-F238E27FC236}">
                <a16:creationId xmlns:a16="http://schemas.microsoft.com/office/drawing/2014/main" id="{6C783500-504F-94FD-0DED-EA5306169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7936" y="2077393"/>
            <a:ext cx="6140590" cy="4078451"/>
          </a:xfrm>
          <a:prstGeom prst="rect">
            <a:avLst/>
          </a:prstGeom>
        </p:spPr>
      </p:pic>
      <p:pic>
        <p:nvPicPr>
          <p:cNvPr id="18" name="Audio 17">
            <a:extLst>
              <a:ext uri="{FF2B5EF4-FFF2-40B4-BE49-F238E27FC236}">
                <a16:creationId xmlns:a16="http://schemas.microsoft.com/office/drawing/2014/main" id="{85EE361D-9B84-E832-DFDB-81862144732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275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48"/>
    </mc:Choice>
    <mc:Fallback>
      <p:transition spd="slow" advTm="321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55AA4-F152-43AB-C4EE-76DCA4312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Feature Importance </a:t>
            </a:r>
          </a:p>
        </p:txBody>
      </p:sp>
      <p:pic>
        <p:nvPicPr>
          <p:cNvPr id="4" name="Picture 3" descr="A chart of different colored lines&#10;&#10;AI-generated content may be incorrect.">
            <a:extLst>
              <a:ext uri="{FF2B5EF4-FFF2-40B4-BE49-F238E27FC236}">
                <a16:creationId xmlns:a16="http://schemas.microsoft.com/office/drawing/2014/main" id="{68541C11-55E5-E8BA-CCC9-D87F4005FA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319" r="1528" b="-2"/>
          <a:stretch/>
        </p:blipFill>
        <p:spPr>
          <a:xfrm>
            <a:off x="6599346" y="2197876"/>
            <a:ext cx="4908223" cy="3745144"/>
          </a:xfrm>
          <a:prstGeom prst="rect">
            <a:avLst/>
          </a:prstGeom>
        </p:spPr>
      </p:pic>
      <p:pic>
        <p:nvPicPr>
          <p:cNvPr id="7" name="Picture 6" descr="A graph of embedding type importance&#10;&#10;AI-generated content may be incorrect.">
            <a:extLst>
              <a:ext uri="{FF2B5EF4-FFF2-40B4-BE49-F238E27FC236}">
                <a16:creationId xmlns:a16="http://schemas.microsoft.com/office/drawing/2014/main" id="{AC73628B-CEAE-4CA9-E4FF-46CF4409AC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187" y="2299974"/>
            <a:ext cx="5932129" cy="3540948"/>
          </a:xfrm>
          <a:prstGeom prst="rect">
            <a:avLst/>
          </a:prstGeom>
        </p:spPr>
      </p:pic>
      <p:pic>
        <p:nvPicPr>
          <p:cNvPr id="12" name="Audio 11">
            <a:extLst>
              <a:ext uri="{FF2B5EF4-FFF2-40B4-BE49-F238E27FC236}">
                <a16:creationId xmlns:a16="http://schemas.microsoft.com/office/drawing/2014/main" id="{21511B14-C625-58A1-9417-EEEA297D0D8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2456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6521"/>
    </mc:Choice>
    <mc:Fallback>
      <p:transition spd="slow" advTm="5652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Part II: Why is the Emergency Department So Crowded? -">
            <a:extLst>
              <a:ext uri="{FF2B5EF4-FFF2-40B4-BE49-F238E27FC236}">
                <a16:creationId xmlns:a16="http://schemas.microsoft.com/office/drawing/2014/main" id="{22258FF3-2FCE-1C51-6299-754A8CCBE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88" b="-3"/>
          <a:stretch/>
        </p:blipFill>
        <p:spPr bwMode="auto">
          <a:xfrm>
            <a:off x="20" y="11"/>
            <a:ext cx="4578252" cy="2608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1" name="Rectangle 5130">
            <a:extLst>
              <a:ext uri="{FF2B5EF4-FFF2-40B4-BE49-F238E27FC236}">
                <a16:creationId xmlns:a16="http://schemas.microsoft.com/office/drawing/2014/main" id="{B1ACEF87-056E-4E77-899B-9E9A04E9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11819"/>
            <a:ext cx="4576634" cy="4235946"/>
          </a:xfrm>
          <a:prstGeom prst="rect">
            <a:avLst/>
          </a:prstGeom>
          <a:solidFill>
            <a:schemeClr val="accent1"/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B563A8-7BBB-5BDF-1D89-B5E8639D7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208" y="2825093"/>
            <a:ext cx="3412067" cy="89704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>
                <a:solidFill>
                  <a:srgbClr val="FFFFFF"/>
                </a:solidFill>
              </a:rPr>
              <a:t>Future Directions</a:t>
            </a:r>
          </a:p>
        </p:txBody>
      </p:sp>
      <p:sp>
        <p:nvSpPr>
          <p:cNvPr id="5128" name="Content Placeholder 5127">
            <a:extLst>
              <a:ext uri="{FF2B5EF4-FFF2-40B4-BE49-F238E27FC236}">
                <a16:creationId xmlns:a16="http://schemas.microsoft.com/office/drawing/2014/main" id="{95470E73-E488-37C1-B2DC-1C56FCFEB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4032907"/>
            <a:ext cx="4334257" cy="227334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Train a model with additional modalities (ex.  audio or images)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More research into different fast-track criteria</a:t>
            </a:r>
            <a:br>
              <a:rPr lang="en-US" dirty="0">
                <a:solidFill>
                  <a:srgbClr val="FFFFFF"/>
                </a:solidFill>
              </a:rPr>
            </a:b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Larger max token limit for BERT embeddings</a:t>
            </a:r>
          </a:p>
        </p:txBody>
      </p:sp>
      <p:pic>
        <p:nvPicPr>
          <p:cNvPr id="5124" name="Picture 4" descr="Emergency Room App by Santiago Alonso on Dribbble">
            <a:extLst>
              <a:ext uri="{FF2B5EF4-FFF2-40B4-BE49-F238E27FC236}">
                <a16:creationId xmlns:a16="http://schemas.microsoft.com/office/drawing/2014/main" id="{021468C8-407A-9B7E-C306-835FC54B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73" r="8663"/>
          <a:stretch/>
        </p:blipFill>
        <p:spPr bwMode="auto">
          <a:xfrm>
            <a:off x="4578270" y="-11"/>
            <a:ext cx="761373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3" name="Rectangle 5132">
            <a:extLst>
              <a:ext uri="{FF2B5EF4-FFF2-40B4-BE49-F238E27FC236}">
                <a16:creationId xmlns:a16="http://schemas.microsoft.com/office/drawing/2014/main" id="{DD0C6C3A-73B1-4E33-AD0D-8BCD35B714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30517" y="-460"/>
            <a:ext cx="914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35" name="Rectangle 5134">
            <a:extLst>
              <a:ext uri="{FF2B5EF4-FFF2-40B4-BE49-F238E27FC236}">
                <a16:creationId xmlns:a16="http://schemas.microsoft.com/office/drawing/2014/main" id="{303022F3-BFF5-4104-AE9A-399949DAF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39" y="2560620"/>
            <a:ext cx="4581144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8" name="Audio 7">
            <a:extLst>
              <a:ext uri="{FF2B5EF4-FFF2-40B4-BE49-F238E27FC236}">
                <a16:creationId xmlns:a16="http://schemas.microsoft.com/office/drawing/2014/main" id="{18567644-FED7-3621-BB9A-06AC8428036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226800" y="5892800"/>
            <a:ext cx="8128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6427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 advTm="55735"/>
    </mc:Choice>
    <mc:Fallback>
      <p:transition spd="slow" advTm="5573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38882</TotalTime>
  <Words>485</Words>
  <Application>Microsoft Macintosh PowerPoint</Application>
  <PresentationFormat>Widescreen</PresentationFormat>
  <Paragraphs>52</Paragraphs>
  <Slides>9</Slides>
  <Notes>9</Notes>
  <HiddenSlides>0</HiddenSlides>
  <MMClips>9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Arial</vt:lpstr>
      <vt:lpstr>Gill Sans MT</vt:lpstr>
      <vt:lpstr>Menlo</vt:lpstr>
      <vt:lpstr>Wingdings 2</vt:lpstr>
      <vt:lpstr>Dividend</vt:lpstr>
      <vt:lpstr>ED Fast-Track Prediction</vt:lpstr>
      <vt:lpstr>Hospital Emergency Department (ED)</vt:lpstr>
      <vt:lpstr>Fast-Track  Area (FT)</vt:lpstr>
      <vt:lpstr>How can ML and ED Multi-Modal Data  Aid Triage staff in making fast-track decisions?</vt:lpstr>
      <vt:lpstr>MC-MED Dataset</vt:lpstr>
      <vt:lpstr>Fast-Track Eligibility Prediction</vt:lpstr>
      <vt:lpstr>Results – ROC-AUC</vt:lpstr>
      <vt:lpstr>Results – Feature Importance 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Owen McCormack</dc:creator>
  <cp:lastModifiedBy>Owen McCormack</cp:lastModifiedBy>
  <cp:revision>10</cp:revision>
  <dcterms:created xsi:type="dcterms:W3CDTF">2025-03-29T16:57:57Z</dcterms:created>
  <dcterms:modified xsi:type="dcterms:W3CDTF">2025-04-25T17:00:42Z</dcterms:modified>
</cp:coreProperties>
</file>