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4"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178"/>
    <p:restoredTop sz="94677"/>
  </p:normalViewPr>
  <p:slideViewPr>
    <p:cSldViewPr snapToGrid="0">
      <p:cViewPr varScale="1">
        <p:scale>
          <a:sx n="87" d="100"/>
          <a:sy n="87" d="100"/>
        </p:scale>
        <p:origin x="1448" y="4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D7BA52E8-218D-7D48-9E0E-B56ACB4316C7}" type="datetimeFigureOut">
              <a:rPr lang="en-US" smtClean="0"/>
              <a:t>2/9/25</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825F7DD3-A853-7948-BA13-C4E791E7BD6C}" type="slidenum">
              <a:rPr lang="en-US" smtClean="0"/>
              <a:t>‹#›</a:t>
            </a:fld>
            <a:endParaRPr lang="en-US"/>
          </a:p>
        </p:txBody>
      </p:sp>
    </p:spTree>
    <p:extLst>
      <p:ext uri="{BB962C8B-B14F-4D97-AF65-F5344CB8AC3E}">
        <p14:creationId xmlns:p14="http://schemas.microsoft.com/office/powerpoint/2010/main" val="2867814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BA52E8-218D-7D48-9E0E-B56ACB4316C7}" type="datetimeFigureOut">
              <a:rPr lang="en-US" smtClean="0"/>
              <a:t>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825F7DD3-A853-7948-BA13-C4E791E7BD6C}" type="slidenum">
              <a:rPr lang="en-US" smtClean="0"/>
              <a:t>‹#›</a:t>
            </a:fld>
            <a:endParaRPr lang="en-US"/>
          </a:p>
        </p:txBody>
      </p:sp>
    </p:spTree>
    <p:extLst>
      <p:ext uri="{BB962C8B-B14F-4D97-AF65-F5344CB8AC3E}">
        <p14:creationId xmlns:p14="http://schemas.microsoft.com/office/powerpoint/2010/main" val="3931780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D7BA52E8-218D-7D48-9E0E-B56ACB4316C7}" type="datetimeFigureOut">
              <a:rPr lang="en-US" smtClean="0"/>
              <a:t>2/9/25</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825F7DD3-A853-7948-BA13-C4E791E7BD6C}" type="slidenum">
              <a:rPr lang="en-US" smtClean="0"/>
              <a:t>‹#›</a:t>
            </a:fld>
            <a:endParaRPr lang="en-US"/>
          </a:p>
        </p:txBody>
      </p:sp>
    </p:spTree>
    <p:extLst>
      <p:ext uri="{BB962C8B-B14F-4D97-AF65-F5344CB8AC3E}">
        <p14:creationId xmlns:p14="http://schemas.microsoft.com/office/powerpoint/2010/main" val="1769877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7BA52E8-218D-7D48-9E0E-B56ACB4316C7}" type="datetimeFigureOut">
              <a:rPr lang="en-US" smtClean="0"/>
              <a:t>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5F7DD3-A853-7948-BA13-C4E791E7BD6C}" type="slidenum">
              <a:rPr lang="en-US" smtClean="0"/>
              <a:t>‹#›</a:t>
            </a:fld>
            <a:endParaRPr lang="en-US"/>
          </a:p>
        </p:txBody>
      </p:sp>
    </p:spTree>
    <p:extLst>
      <p:ext uri="{BB962C8B-B14F-4D97-AF65-F5344CB8AC3E}">
        <p14:creationId xmlns:p14="http://schemas.microsoft.com/office/powerpoint/2010/main" val="578723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BA52E8-218D-7D48-9E0E-B56ACB4316C7}" type="datetimeFigureOut">
              <a:rPr lang="en-US" smtClean="0"/>
              <a:t>2/9/25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25F7DD3-A853-7948-BA13-C4E791E7BD6C}" type="slidenum">
              <a:rPr lang="en-US" smtClean="0"/>
              <a:t>‹#›</a:t>
            </a:fld>
            <a:endParaRPr lang="en-US"/>
          </a:p>
        </p:txBody>
      </p:sp>
    </p:spTree>
    <p:extLst>
      <p:ext uri="{BB962C8B-B14F-4D97-AF65-F5344CB8AC3E}">
        <p14:creationId xmlns:p14="http://schemas.microsoft.com/office/powerpoint/2010/main" val="6057403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7BA52E8-218D-7D48-9E0E-B56ACB4316C7}" type="datetimeFigureOut">
              <a:rPr lang="en-US" smtClean="0"/>
              <a:t>2/9/25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25F7DD3-A853-7948-BA13-C4E791E7BD6C}" type="slidenum">
              <a:rPr lang="en-US" smtClean="0"/>
              <a:t>‹#›</a:t>
            </a:fld>
            <a:endParaRPr lang="en-US"/>
          </a:p>
        </p:txBody>
      </p:sp>
    </p:spTree>
    <p:extLst>
      <p:ext uri="{BB962C8B-B14F-4D97-AF65-F5344CB8AC3E}">
        <p14:creationId xmlns:p14="http://schemas.microsoft.com/office/powerpoint/2010/main" val="471189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BA52E8-218D-7D48-9E0E-B56ACB4316C7}" type="datetimeFigureOut">
              <a:rPr lang="en-US" smtClean="0"/>
              <a:t>2/9/25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25F7DD3-A853-7948-BA13-C4E791E7BD6C}" type="slidenum">
              <a:rPr lang="en-US" smtClean="0"/>
              <a:t>‹#›</a:t>
            </a:fld>
            <a:endParaRPr lang="en-US"/>
          </a:p>
        </p:txBody>
      </p:sp>
    </p:spTree>
    <p:extLst>
      <p:ext uri="{BB962C8B-B14F-4D97-AF65-F5344CB8AC3E}">
        <p14:creationId xmlns:p14="http://schemas.microsoft.com/office/powerpoint/2010/main" val="2404512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D7BA52E8-218D-7D48-9E0E-B56ACB4316C7}" type="datetimeFigureOut">
              <a:rPr lang="en-US" smtClean="0"/>
              <a:t>2/9/25</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825F7DD3-A853-7948-BA13-C4E791E7BD6C}" type="slidenum">
              <a:rPr lang="en-US" smtClean="0"/>
              <a:t>‹#›</a:t>
            </a:fld>
            <a:endParaRPr lang="en-US"/>
          </a:p>
        </p:txBody>
      </p:sp>
    </p:spTree>
    <p:extLst>
      <p:ext uri="{BB962C8B-B14F-4D97-AF65-F5344CB8AC3E}">
        <p14:creationId xmlns:p14="http://schemas.microsoft.com/office/powerpoint/2010/main" val="9828493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7BA52E8-218D-7D48-9E0E-B56ACB4316C7}" type="datetimeFigureOut">
              <a:rPr lang="en-US" smtClean="0"/>
              <a:t>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5F7DD3-A853-7948-BA13-C4E791E7BD6C}" type="slidenum">
              <a:rPr lang="en-US" smtClean="0"/>
              <a:t>‹#›</a:t>
            </a:fld>
            <a:endParaRPr lang="en-US"/>
          </a:p>
        </p:txBody>
      </p:sp>
    </p:spTree>
    <p:extLst>
      <p:ext uri="{BB962C8B-B14F-4D97-AF65-F5344CB8AC3E}">
        <p14:creationId xmlns:p14="http://schemas.microsoft.com/office/powerpoint/2010/main" val="4136961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BA52E8-218D-7D48-9E0E-B56ACB4316C7}" type="datetimeFigureOut">
              <a:rPr lang="en-US" smtClean="0"/>
              <a:t>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5F7DD3-A853-7948-BA13-C4E791E7BD6C}" type="slidenum">
              <a:rPr lang="en-US" smtClean="0"/>
              <a:t>‹#›</a:t>
            </a:fld>
            <a:endParaRPr lang="en-US"/>
          </a:p>
        </p:txBody>
      </p:sp>
    </p:spTree>
    <p:extLst>
      <p:ext uri="{BB962C8B-B14F-4D97-AF65-F5344CB8AC3E}">
        <p14:creationId xmlns:p14="http://schemas.microsoft.com/office/powerpoint/2010/main" val="560808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7BA52E8-218D-7D48-9E0E-B56ACB4316C7}" type="datetimeFigureOut">
              <a:rPr lang="en-US" smtClean="0"/>
              <a:t>2/9/25</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825F7DD3-A853-7948-BA13-C4E791E7BD6C}" type="slidenum">
              <a:rPr lang="en-US" smtClean="0"/>
              <a:t>‹#›</a:t>
            </a:fld>
            <a:endParaRPr lang="en-US"/>
          </a:p>
        </p:txBody>
      </p:sp>
    </p:spTree>
    <p:extLst>
      <p:ext uri="{BB962C8B-B14F-4D97-AF65-F5344CB8AC3E}">
        <p14:creationId xmlns:p14="http://schemas.microsoft.com/office/powerpoint/2010/main" val="931003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7BA52E8-218D-7D48-9E0E-B56ACB4316C7}" type="datetimeFigureOut">
              <a:rPr lang="en-US" smtClean="0"/>
              <a:t>2/9/25</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825F7DD3-A853-7948-BA13-C4E791E7BD6C}"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152787530"/>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 Id="rId5" Type="http://schemas.openxmlformats.org/officeDocument/2006/relationships/hyperlink" Target="https://mimic.mit.edu/docs/iii/tables/transfers/#prev_careunit-curr_careunit" TargetMode="External"/><Relationship Id="rId4" Type="http://schemas.openxmlformats.org/officeDocument/2006/relationships/hyperlink" Target="https://mimic.mit.edu/docs/iii/tables/callout/"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E0E78-73FE-4B2D-ECC5-9DE3BEE42DE8}"/>
              </a:ext>
            </a:extLst>
          </p:cNvPr>
          <p:cNvSpPr>
            <a:spLocks noGrp="1"/>
          </p:cNvSpPr>
          <p:nvPr>
            <p:ph type="ctrTitle"/>
          </p:nvPr>
        </p:nvSpPr>
        <p:spPr/>
        <p:txBody>
          <a:bodyPr/>
          <a:lstStyle/>
          <a:p>
            <a:r>
              <a:rPr lang="en-US" dirty="0"/>
              <a:t>Mimic SQL</a:t>
            </a:r>
          </a:p>
        </p:txBody>
      </p:sp>
      <p:sp>
        <p:nvSpPr>
          <p:cNvPr id="3" name="Subtitle 2">
            <a:extLst>
              <a:ext uri="{FF2B5EF4-FFF2-40B4-BE49-F238E27FC236}">
                <a16:creationId xmlns:a16="http://schemas.microsoft.com/office/drawing/2014/main" id="{14FA5C75-0410-2E29-B64B-749C9CB2B163}"/>
              </a:ext>
            </a:extLst>
          </p:cNvPr>
          <p:cNvSpPr>
            <a:spLocks noGrp="1"/>
          </p:cNvSpPr>
          <p:nvPr>
            <p:ph type="subTitle" idx="1"/>
          </p:nvPr>
        </p:nvSpPr>
        <p:spPr/>
        <p:txBody>
          <a:bodyPr>
            <a:normAutofit fontScale="92500" lnSpcReduction="20000"/>
          </a:bodyPr>
          <a:lstStyle/>
          <a:p>
            <a:r>
              <a:rPr lang="en-US" dirty="0"/>
              <a:t>Owen McCormack</a:t>
            </a:r>
          </a:p>
          <a:p>
            <a:r>
              <a:rPr lang="en-US" dirty="0"/>
              <a:t>Ai in Healthcare Assignment 3</a:t>
            </a:r>
          </a:p>
        </p:txBody>
      </p:sp>
    </p:spTree>
    <p:extLst>
      <p:ext uri="{BB962C8B-B14F-4D97-AF65-F5344CB8AC3E}">
        <p14:creationId xmlns:p14="http://schemas.microsoft.com/office/powerpoint/2010/main" val="2906291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FB9DC-BEBE-CA17-72D6-3B53D77C8D40}"/>
              </a:ext>
            </a:extLst>
          </p:cNvPr>
          <p:cNvSpPr>
            <a:spLocks noGrp="1"/>
          </p:cNvSpPr>
          <p:nvPr>
            <p:ph type="title"/>
          </p:nvPr>
        </p:nvSpPr>
        <p:spPr/>
        <p:txBody>
          <a:bodyPr/>
          <a:lstStyle/>
          <a:p>
            <a:r>
              <a:rPr lang="en-US" dirty="0"/>
              <a:t>Query 1: Unsuccessful callouts</a:t>
            </a:r>
          </a:p>
        </p:txBody>
      </p:sp>
      <p:pic>
        <p:nvPicPr>
          <p:cNvPr id="7" name="Content Placeholder 6">
            <a:extLst>
              <a:ext uri="{FF2B5EF4-FFF2-40B4-BE49-F238E27FC236}">
                <a16:creationId xmlns:a16="http://schemas.microsoft.com/office/drawing/2014/main" id="{84470E76-815B-A820-4EA5-E104C3260147}"/>
              </a:ext>
            </a:extLst>
          </p:cNvPr>
          <p:cNvPicPr>
            <a:picLocks noGrp="1" noChangeAspect="1"/>
          </p:cNvPicPr>
          <p:nvPr>
            <p:ph sz="half" idx="1"/>
          </p:nvPr>
        </p:nvPicPr>
        <p:blipFill>
          <a:blip r:embed="rId2"/>
          <a:stretch>
            <a:fillRect/>
          </a:stretch>
        </p:blipFill>
        <p:spPr>
          <a:xfrm>
            <a:off x="749300" y="1862230"/>
            <a:ext cx="4913905" cy="2718830"/>
          </a:xfrm>
        </p:spPr>
      </p:pic>
      <p:pic>
        <p:nvPicPr>
          <p:cNvPr id="9" name="Content Placeholder 8">
            <a:extLst>
              <a:ext uri="{FF2B5EF4-FFF2-40B4-BE49-F238E27FC236}">
                <a16:creationId xmlns:a16="http://schemas.microsoft.com/office/drawing/2014/main" id="{2981C0D2-C06C-7BB8-6AB8-B4B3233A0FCB}"/>
              </a:ext>
            </a:extLst>
          </p:cNvPr>
          <p:cNvPicPr>
            <a:picLocks noGrp="1" noChangeAspect="1"/>
          </p:cNvPicPr>
          <p:nvPr>
            <p:ph sz="half" idx="2"/>
          </p:nvPr>
        </p:nvPicPr>
        <p:blipFill>
          <a:blip r:embed="rId3"/>
          <a:stretch>
            <a:fillRect/>
          </a:stretch>
        </p:blipFill>
        <p:spPr>
          <a:xfrm>
            <a:off x="910507" y="4581060"/>
            <a:ext cx="4591490" cy="2099140"/>
          </a:xfrm>
        </p:spPr>
      </p:pic>
      <p:sp>
        <p:nvSpPr>
          <p:cNvPr id="5" name="TextBox 4">
            <a:extLst>
              <a:ext uri="{FF2B5EF4-FFF2-40B4-BE49-F238E27FC236}">
                <a16:creationId xmlns:a16="http://schemas.microsoft.com/office/drawing/2014/main" id="{BC67603A-538A-B873-CB68-0378EC487681}"/>
              </a:ext>
            </a:extLst>
          </p:cNvPr>
          <p:cNvSpPr txBox="1"/>
          <p:nvPr/>
        </p:nvSpPr>
        <p:spPr>
          <a:xfrm>
            <a:off x="2313992" y="1492898"/>
            <a:ext cx="184731" cy="369332"/>
          </a:xfrm>
          <a:prstGeom prst="rect">
            <a:avLst/>
          </a:prstGeom>
          <a:noFill/>
        </p:spPr>
        <p:txBody>
          <a:bodyPr wrap="none" rtlCol="0">
            <a:spAutoFit/>
          </a:bodyPr>
          <a:lstStyle/>
          <a:p>
            <a:endParaRPr lang="en-US" dirty="0"/>
          </a:p>
        </p:txBody>
      </p:sp>
      <p:sp>
        <p:nvSpPr>
          <p:cNvPr id="10" name="TextBox 9">
            <a:extLst>
              <a:ext uri="{FF2B5EF4-FFF2-40B4-BE49-F238E27FC236}">
                <a16:creationId xmlns:a16="http://schemas.microsoft.com/office/drawing/2014/main" id="{084C99AE-7436-7D8A-8D4E-11ABB19D6EBF}"/>
              </a:ext>
            </a:extLst>
          </p:cNvPr>
          <p:cNvSpPr txBox="1"/>
          <p:nvPr/>
        </p:nvSpPr>
        <p:spPr>
          <a:xfrm>
            <a:off x="6893374" y="2158024"/>
            <a:ext cx="4717435" cy="3754874"/>
          </a:xfrm>
          <a:prstGeom prst="rect">
            <a:avLst/>
          </a:prstGeom>
          <a:noFill/>
        </p:spPr>
        <p:txBody>
          <a:bodyPr wrap="square" rtlCol="0">
            <a:spAutoFit/>
          </a:bodyPr>
          <a:lstStyle/>
          <a:p>
            <a:pPr marL="285750" indent="-285750">
              <a:buFont typeface="Arial" panose="020B0604020202020204" pitchFamily="34" charset="0"/>
              <a:buChar char="•"/>
            </a:pPr>
            <a:r>
              <a:rPr lang="en-US" sz="1400" dirty="0"/>
              <a:t>The callouts table </a:t>
            </a:r>
            <a:r>
              <a:rPr lang="en-US" sz="1400" i="1" dirty="0"/>
              <a:t>“Provides information when a patient was READY for discharge from the ICU, and when the patient was actually discharged from the ICU.” </a:t>
            </a:r>
            <a:r>
              <a:rPr lang="en-US" sz="1400" i="1" dirty="0">
                <a:hlinkClick r:id="rId4"/>
              </a:rPr>
              <a:t>MIMIC DOCS</a:t>
            </a:r>
            <a:br>
              <a:rPr lang="en-US" sz="1400" i="1" dirty="0"/>
            </a:br>
            <a:endParaRPr lang="en-US" sz="1400" i="1" dirty="0"/>
          </a:p>
          <a:p>
            <a:pPr marL="285750" indent="-285750">
              <a:buFont typeface="Arial" panose="020B0604020202020204" pitchFamily="34" charset="0"/>
              <a:buChar char="•"/>
            </a:pPr>
            <a:r>
              <a:rPr lang="en-US" sz="1400" dirty="0"/>
              <a:t>Not every transfer initiated by a callout is successful, so the purpose of this query is to look at what ICU units are involved in </a:t>
            </a:r>
            <a:r>
              <a:rPr lang="en-US" sz="1400" b="1" dirty="0"/>
              <a:t>failed</a:t>
            </a:r>
            <a:r>
              <a:rPr lang="en-US" sz="1400" dirty="0"/>
              <a:t> callouts.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This could provide insight into which specific ICUs need more support. We can see from the results that the MICU has the vast majority  (~35%) of failed callouts just trying to go to the first available ward</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This query works by creating a mapping of care units found in the </a:t>
            </a:r>
            <a:r>
              <a:rPr lang="en-US" sz="1400" dirty="0">
                <a:hlinkClick r:id="rId5"/>
              </a:rPr>
              <a:t>docs</a:t>
            </a:r>
            <a:r>
              <a:rPr lang="en-US" sz="1400" dirty="0"/>
              <a:t> and then joining the mapping with the results where a patient was NOT discharged and forming groups to get the count and percentage.</a:t>
            </a:r>
          </a:p>
        </p:txBody>
      </p:sp>
    </p:spTree>
    <p:extLst>
      <p:ext uri="{BB962C8B-B14F-4D97-AF65-F5344CB8AC3E}">
        <p14:creationId xmlns:p14="http://schemas.microsoft.com/office/powerpoint/2010/main" val="867930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CD27C-A467-9766-7856-D8FA41E7D487}"/>
              </a:ext>
            </a:extLst>
          </p:cNvPr>
          <p:cNvSpPr>
            <a:spLocks noGrp="1"/>
          </p:cNvSpPr>
          <p:nvPr>
            <p:ph type="title"/>
          </p:nvPr>
        </p:nvSpPr>
        <p:spPr/>
        <p:txBody>
          <a:bodyPr/>
          <a:lstStyle/>
          <a:p>
            <a:r>
              <a:rPr lang="en-US" dirty="0"/>
              <a:t>Query 2:  Transfers for unsuccessful callouts</a:t>
            </a:r>
          </a:p>
        </p:txBody>
      </p:sp>
      <p:pic>
        <p:nvPicPr>
          <p:cNvPr id="6" name="Content Placeholder 5">
            <a:extLst>
              <a:ext uri="{FF2B5EF4-FFF2-40B4-BE49-F238E27FC236}">
                <a16:creationId xmlns:a16="http://schemas.microsoft.com/office/drawing/2014/main" id="{C6054DA6-4CE7-A0CF-2E42-2D3698EE97A8}"/>
              </a:ext>
            </a:extLst>
          </p:cNvPr>
          <p:cNvPicPr>
            <a:picLocks noGrp="1" noChangeAspect="1"/>
          </p:cNvPicPr>
          <p:nvPr>
            <p:ph sz="half" idx="1"/>
          </p:nvPr>
        </p:nvPicPr>
        <p:blipFill>
          <a:blip r:embed="rId2"/>
          <a:stretch>
            <a:fillRect/>
          </a:stretch>
        </p:blipFill>
        <p:spPr>
          <a:xfrm>
            <a:off x="1764446" y="4309943"/>
            <a:ext cx="3056057" cy="2314681"/>
          </a:xfrm>
        </p:spPr>
      </p:pic>
      <p:pic>
        <p:nvPicPr>
          <p:cNvPr id="8" name="Content Placeholder 7">
            <a:extLst>
              <a:ext uri="{FF2B5EF4-FFF2-40B4-BE49-F238E27FC236}">
                <a16:creationId xmlns:a16="http://schemas.microsoft.com/office/drawing/2014/main" id="{7E650202-024A-2CE6-6F5A-6709409CDCAA}"/>
              </a:ext>
            </a:extLst>
          </p:cNvPr>
          <p:cNvPicPr>
            <a:picLocks noGrp="1" noChangeAspect="1"/>
          </p:cNvPicPr>
          <p:nvPr>
            <p:ph sz="half" idx="2"/>
          </p:nvPr>
        </p:nvPicPr>
        <p:blipFill>
          <a:blip r:embed="rId3"/>
          <a:stretch>
            <a:fillRect/>
          </a:stretch>
        </p:blipFill>
        <p:spPr>
          <a:xfrm>
            <a:off x="581025" y="1924170"/>
            <a:ext cx="5422900" cy="2385773"/>
          </a:xfrm>
        </p:spPr>
      </p:pic>
      <p:sp>
        <p:nvSpPr>
          <p:cNvPr id="11" name="TextBox 10">
            <a:extLst>
              <a:ext uri="{FF2B5EF4-FFF2-40B4-BE49-F238E27FC236}">
                <a16:creationId xmlns:a16="http://schemas.microsoft.com/office/drawing/2014/main" id="{FE0367E0-8A71-2904-ECC3-AE3F08CD196B}"/>
              </a:ext>
            </a:extLst>
          </p:cNvPr>
          <p:cNvSpPr txBox="1"/>
          <p:nvPr/>
        </p:nvSpPr>
        <p:spPr>
          <a:xfrm>
            <a:off x="6350000" y="2273300"/>
            <a:ext cx="5260809" cy="2893100"/>
          </a:xfrm>
          <a:prstGeom prst="rect">
            <a:avLst/>
          </a:prstGeom>
          <a:noFill/>
        </p:spPr>
        <p:txBody>
          <a:bodyPr wrap="square" rtlCol="0">
            <a:spAutoFit/>
          </a:bodyPr>
          <a:lstStyle/>
          <a:p>
            <a:pPr marL="285750" indent="-285750">
              <a:buFont typeface="Arial" panose="020B0604020202020204" pitchFamily="34" charset="0"/>
              <a:buChar char="•"/>
            </a:pPr>
            <a:r>
              <a:rPr lang="en-US" sz="1400" dirty="0"/>
              <a:t>Following up on the last query, this one applies the top result of unsuccessful callouts, current care unit – </a:t>
            </a:r>
            <a:r>
              <a:rPr lang="en-US" sz="1400" i="1" dirty="0"/>
              <a:t>MICU</a:t>
            </a:r>
            <a:r>
              <a:rPr lang="en-US" sz="1400" dirty="0"/>
              <a:t>, submit care unit – </a:t>
            </a:r>
            <a:r>
              <a:rPr lang="en-US" sz="1400" i="1" dirty="0"/>
              <a:t>MICU</a:t>
            </a:r>
            <a:r>
              <a:rPr lang="en-US" sz="1400" dirty="0"/>
              <a:t>, and callout care unit </a:t>
            </a:r>
            <a:r>
              <a:rPr lang="en-US" sz="1400" i="1" dirty="0"/>
              <a:t>– first available</a:t>
            </a:r>
            <a:r>
              <a:rPr lang="en-US" sz="1400" dirty="0"/>
              <a:t>, to see what the transfers look like for patients in this group.</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The results show the number of transfers and average length of stay for each admission-patient group, ordered by the number of transfers. One patient, </a:t>
            </a:r>
            <a:r>
              <a:rPr lang="en-US" sz="1400" i="1" dirty="0"/>
              <a:t>85258</a:t>
            </a:r>
            <a:r>
              <a:rPr lang="en-US" sz="1400" dirty="0"/>
              <a:t>, shockingly had </a:t>
            </a:r>
            <a:r>
              <a:rPr lang="en-US" sz="1400" b="1" dirty="0"/>
              <a:t>34 transfers </a:t>
            </a:r>
            <a:r>
              <a:rPr lang="en-US" sz="1400" dirty="0"/>
              <a:t>over the course of one hospital stay.</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This query works by pulling directly from the transfers table and joining in the callout information before filtering with the care unit criteria specified in the first bullet point.</a:t>
            </a:r>
          </a:p>
        </p:txBody>
      </p:sp>
    </p:spTree>
    <p:extLst>
      <p:ext uri="{BB962C8B-B14F-4D97-AF65-F5344CB8AC3E}">
        <p14:creationId xmlns:p14="http://schemas.microsoft.com/office/powerpoint/2010/main" val="1752865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66122-CC55-B196-332C-99A10AFC22BF}"/>
              </a:ext>
            </a:extLst>
          </p:cNvPr>
          <p:cNvSpPr>
            <a:spLocks noGrp="1"/>
          </p:cNvSpPr>
          <p:nvPr>
            <p:ph type="title"/>
          </p:nvPr>
        </p:nvSpPr>
        <p:spPr/>
        <p:txBody>
          <a:bodyPr/>
          <a:lstStyle/>
          <a:p>
            <a:r>
              <a:rPr lang="en-US" dirty="0"/>
              <a:t>Query 3: Frequently Transferred Patient</a:t>
            </a:r>
          </a:p>
        </p:txBody>
      </p:sp>
      <p:pic>
        <p:nvPicPr>
          <p:cNvPr id="6" name="Content Placeholder 5">
            <a:extLst>
              <a:ext uri="{FF2B5EF4-FFF2-40B4-BE49-F238E27FC236}">
                <a16:creationId xmlns:a16="http://schemas.microsoft.com/office/drawing/2014/main" id="{D636CA3C-786F-6EB4-E2F6-6881156F826E}"/>
              </a:ext>
            </a:extLst>
          </p:cNvPr>
          <p:cNvPicPr>
            <a:picLocks noGrp="1" noChangeAspect="1"/>
          </p:cNvPicPr>
          <p:nvPr>
            <p:ph sz="half" idx="1"/>
          </p:nvPr>
        </p:nvPicPr>
        <p:blipFill>
          <a:blip r:embed="rId2"/>
          <a:stretch>
            <a:fillRect/>
          </a:stretch>
        </p:blipFill>
        <p:spPr>
          <a:xfrm>
            <a:off x="822491" y="1866540"/>
            <a:ext cx="4511509" cy="2355406"/>
          </a:xfrm>
        </p:spPr>
      </p:pic>
      <p:sp>
        <p:nvSpPr>
          <p:cNvPr id="9" name="TextBox 8">
            <a:extLst>
              <a:ext uri="{FF2B5EF4-FFF2-40B4-BE49-F238E27FC236}">
                <a16:creationId xmlns:a16="http://schemas.microsoft.com/office/drawing/2014/main" id="{768E81A1-5FDE-CAE9-B125-440077232ED8}"/>
              </a:ext>
            </a:extLst>
          </p:cNvPr>
          <p:cNvSpPr txBox="1"/>
          <p:nvPr/>
        </p:nvSpPr>
        <p:spPr>
          <a:xfrm>
            <a:off x="5956300" y="1913622"/>
            <a:ext cx="5156200" cy="4616648"/>
          </a:xfrm>
          <a:prstGeom prst="rect">
            <a:avLst/>
          </a:prstGeom>
          <a:noFill/>
        </p:spPr>
        <p:txBody>
          <a:bodyPr wrap="square" rtlCol="0">
            <a:spAutoFit/>
          </a:bodyPr>
          <a:lstStyle/>
          <a:p>
            <a:pPr marL="285750" indent="-285750">
              <a:buFont typeface="Arial" panose="020B0604020202020204" pitchFamily="34" charset="0"/>
              <a:buChar char="•"/>
            </a:pPr>
            <a:r>
              <a:rPr lang="en-US" sz="1400" dirty="0"/>
              <a:t>This query takes a closer look at the patient (</a:t>
            </a:r>
            <a:r>
              <a:rPr lang="en-US" sz="1400" dirty="0" err="1"/>
              <a:t>adm</a:t>
            </a:r>
            <a:r>
              <a:rPr lang="en-US" sz="1400" dirty="0"/>
              <a:t> 122457) who was transferred 34 times, what is some information from their chart data that stands out?</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When looking at chart readings with above a standard deviation threshold of 2, we see the respiratory rate, heart rate, and blood pressure readings rank as the top results that vary from their averages.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The max, min, average, and median are included in the results to get a better overall picture of each chart item. Notice that for charts with outliers, such as </a:t>
            </a:r>
            <a:r>
              <a:rPr lang="en-US" sz="1400" i="1" dirty="0"/>
              <a:t>Non Invasive Blook Pressure Alarm</a:t>
            </a:r>
            <a:r>
              <a:rPr lang="en-US" sz="1400" dirty="0"/>
              <a:t>, the median is not as influenced by a much higher max value as the average is.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This query works by filtering </a:t>
            </a:r>
            <a:r>
              <a:rPr lang="en-US" sz="1400" dirty="0" err="1"/>
              <a:t>chartevent</a:t>
            </a:r>
            <a:r>
              <a:rPr lang="en-US" sz="1400" dirty="0"/>
              <a:t> data specific to admission 122457, then uses built-in </a:t>
            </a:r>
            <a:r>
              <a:rPr lang="en-US" sz="1400" dirty="0" err="1"/>
              <a:t>postgres</a:t>
            </a:r>
            <a:r>
              <a:rPr lang="en-US" sz="1400" dirty="0"/>
              <a:t> avg and </a:t>
            </a:r>
            <a:r>
              <a:rPr lang="en-US" sz="1400" dirty="0" err="1"/>
              <a:t>stddev_samp</a:t>
            </a:r>
            <a:r>
              <a:rPr lang="en-US" sz="1400" dirty="0"/>
              <a:t> functions to calculate average and std respectively. Results are grouped by item and </a:t>
            </a:r>
            <a:r>
              <a:rPr lang="en-US" sz="1400" dirty="0" err="1"/>
              <a:t>d_items</a:t>
            </a:r>
            <a:r>
              <a:rPr lang="en-US" sz="1400" dirty="0"/>
              <a:t> is joined to get the item’s name. </a:t>
            </a:r>
            <a:r>
              <a:rPr lang="en-US" sz="1400" dirty="0" err="1"/>
              <a:t>percentile_cont</a:t>
            </a:r>
            <a:r>
              <a:rPr lang="en-US" sz="1400" dirty="0"/>
              <a:t> is then used to calculate the median of the group results.</a:t>
            </a:r>
          </a:p>
        </p:txBody>
      </p:sp>
      <p:pic>
        <p:nvPicPr>
          <p:cNvPr id="13" name="Content Placeholder 12">
            <a:extLst>
              <a:ext uri="{FF2B5EF4-FFF2-40B4-BE49-F238E27FC236}">
                <a16:creationId xmlns:a16="http://schemas.microsoft.com/office/drawing/2014/main" id="{F17BB807-0DFC-C0EC-8B1A-847A0BD8E1F3}"/>
              </a:ext>
            </a:extLst>
          </p:cNvPr>
          <p:cNvPicPr>
            <a:picLocks noGrp="1" noChangeAspect="1"/>
          </p:cNvPicPr>
          <p:nvPr>
            <p:ph sz="half" idx="2"/>
          </p:nvPr>
        </p:nvPicPr>
        <p:blipFill>
          <a:blip r:embed="rId3"/>
          <a:stretch>
            <a:fillRect/>
          </a:stretch>
        </p:blipFill>
        <p:spPr>
          <a:xfrm>
            <a:off x="944066" y="4221946"/>
            <a:ext cx="4268357" cy="2464964"/>
          </a:xfrm>
        </p:spPr>
      </p:pic>
    </p:spTree>
    <p:extLst>
      <p:ext uri="{BB962C8B-B14F-4D97-AF65-F5344CB8AC3E}">
        <p14:creationId xmlns:p14="http://schemas.microsoft.com/office/powerpoint/2010/main" val="25842864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E988D-32F6-71CD-7BD2-5964B0DDFDF6}"/>
              </a:ext>
            </a:extLst>
          </p:cNvPr>
          <p:cNvSpPr>
            <a:spLocks noGrp="1"/>
          </p:cNvSpPr>
          <p:nvPr>
            <p:ph type="title"/>
          </p:nvPr>
        </p:nvSpPr>
        <p:spPr/>
        <p:txBody>
          <a:bodyPr/>
          <a:lstStyle/>
          <a:p>
            <a:r>
              <a:rPr lang="en-US" dirty="0"/>
              <a:t>Query 4: Other Deviations in Respiratory Rate</a:t>
            </a:r>
          </a:p>
        </p:txBody>
      </p:sp>
      <p:pic>
        <p:nvPicPr>
          <p:cNvPr id="6" name="Content Placeholder 5">
            <a:extLst>
              <a:ext uri="{FF2B5EF4-FFF2-40B4-BE49-F238E27FC236}">
                <a16:creationId xmlns:a16="http://schemas.microsoft.com/office/drawing/2014/main" id="{6DCC0B7F-136C-53AD-C521-174E5E70FCFD}"/>
              </a:ext>
            </a:extLst>
          </p:cNvPr>
          <p:cNvPicPr>
            <a:picLocks noGrp="1" noChangeAspect="1"/>
          </p:cNvPicPr>
          <p:nvPr>
            <p:ph sz="half" idx="1"/>
          </p:nvPr>
        </p:nvPicPr>
        <p:blipFill>
          <a:blip r:embed="rId2"/>
          <a:stretch>
            <a:fillRect/>
          </a:stretch>
        </p:blipFill>
        <p:spPr>
          <a:xfrm>
            <a:off x="1186029" y="4891899"/>
            <a:ext cx="3432174" cy="1804169"/>
          </a:xfrm>
        </p:spPr>
      </p:pic>
      <p:pic>
        <p:nvPicPr>
          <p:cNvPr id="8" name="Content Placeholder 7">
            <a:extLst>
              <a:ext uri="{FF2B5EF4-FFF2-40B4-BE49-F238E27FC236}">
                <a16:creationId xmlns:a16="http://schemas.microsoft.com/office/drawing/2014/main" id="{94EC83EF-37BC-FF4E-4169-8714947A3A3A}"/>
              </a:ext>
            </a:extLst>
          </p:cNvPr>
          <p:cNvPicPr>
            <a:picLocks noGrp="1" noChangeAspect="1"/>
          </p:cNvPicPr>
          <p:nvPr>
            <p:ph sz="half" idx="2"/>
          </p:nvPr>
        </p:nvPicPr>
        <p:blipFill>
          <a:blip r:embed="rId3"/>
          <a:stretch>
            <a:fillRect/>
          </a:stretch>
        </p:blipFill>
        <p:spPr>
          <a:xfrm>
            <a:off x="668504" y="1964467"/>
            <a:ext cx="4467225" cy="2927432"/>
          </a:xfrm>
        </p:spPr>
      </p:pic>
      <p:sp>
        <p:nvSpPr>
          <p:cNvPr id="9" name="TextBox 8">
            <a:extLst>
              <a:ext uri="{FF2B5EF4-FFF2-40B4-BE49-F238E27FC236}">
                <a16:creationId xmlns:a16="http://schemas.microsoft.com/office/drawing/2014/main" id="{5E21AC37-6B46-2AF1-C361-CF9940ECEEBA}"/>
              </a:ext>
            </a:extLst>
          </p:cNvPr>
          <p:cNvSpPr txBox="1"/>
          <p:nvPr/>
        </p:nvSpPr>
        <p:spPr>
          <a:xfrm>
            <a:off x="5859296" y="2222500"/>
            <a:ext cx="5664200" cy="3754874"/>
          </a:xfrm>
          <a:prstGeom prst="rect">
            <a:avLst/>
          </a:prstGeom>
          <a:noFill/>
        </p:spPr>
        <p:txBody>
          <a:bodyPr wrap="square" rtlCol="0">
            <a:spAutoFit/>
          </a:bodyPr>
          <a:lstStyle/>
          <a:p>
            <a:pPr marL="285750" indent="-285750">
              <a:buFont typeface="Arial" panose="020B0604020202020204" pitchFamily="34" charset="0"/>
              <a:buChar char="•"/>
            </a:pPr>
            <a:r>
              <a:rPr lang="en-US" sz="1400" dirty="0"/>
              <a:t>Building on the previous query, this query seeks to identify what other gender, age, ethnicity groups had high deviation in their Respiratory Rate chart data. Each row represents a gender, 10 year age span, ethnicity group that is ordered by the admission count of each group. </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The results show that white males in their 60s had the largest representation in admissions where the respiratory rate charts had a higher standard deviation. It would be interesting to see how these numbers were affected by the COVID19 pandemic.</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This query works by using the </a:t>
            </a:r>
            <a:r>
              <a:rPr lang="en-US" sz="1400" i="1" dirty="0"/>
              <a:t>WITH</a:t>
            </a:r>
            <a:r>
              <a:rPr lang="en-US" sz="1400" dirty="0"/>
              <a:t> keyword to save subquery results from </a:t>
            </a:r>
            <a:r>
              <a:rPr lang="en-US" sz="1400" dirty="0" err="1"/>
              <a:t>chartevents</a:t>
            </a:r>
            <a:r>
              <a:rPr lang="en-US" sz="1400" dirty="0"/>
              <a:t> joined by </a:t>
            </a:r>
            <a:r>
              <a:rPr lang="en-US" sz="1400" dirty="0" err="1"/>
              <a:t>d_items</a:t>
            </a:r>
            <a:r>
              <a:rPr lang="en-US" sz="1400" dirty="0"/>
              <a:t>, admissions, and patients filtered by only items related to ‘Respiratory Rate’. Those charts are then grouped by admission, gender, ethnicity, dob and </a:t>
            </a:r>
            <a:r>
              <a:rPr lang="en-US" sz="1400" dirty="0" err="1"/>
              <a:t>admittime</a:t>
            </a:r>
            <a:r>
              <a:rPr lang="en-US" sz="1400" dirty="0"/>
              <a:t> (both to calculate age) and filtered by std &gt; 2. Finally, these subquery results are regrouped into the 10 year age ranges, ordered by count and limited to the top 10.</a:t>
            </a:r>
          </a:p>
        </p:txBody>
      </p:sp>
    </p:spTree>
    <p:extLst>
      <p:ext uri="{BB962C8B-B14F-4D97-AF65-F5344CB8AC3E}">
        <p14:creationId xmlns:p14="http://schemas.microsoft.com/office/powerpoint/2010/main" val="999299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9DCDF-DE42-766B-467D-AAF1D4A8F6C7}"/>
              </a:ext>
            </a:extLst>
          </p:cNvPr>
          <p:cNvSpPr>
            <a:spLocks noGrp="1"/>
          </p:cNvSpPr>
          <p:nvPr>
            <p:ph type="title"/>
          </p:nvPr>
        </p:nvSpPr>
        <p:spPr/>
        <p:txBody>
          <a:bodyPr/>
          <a:lstStyle/>
          <a:p>
            <a:r>
              <a:rPr lang="en-US" dirty="0"/>
              <a:t>Query 5: Common Diagnosis of 60s white Males</a:t>
            </a:r>
          </a:p>
        </p:txBody>
      </p:sp>
      <p:pic>
        <p:nvPicPr>
          <p:cNvPr id="12" name="Content Placeholder 11">
            <a:extLst>
              <a:ext uri="{FF2B5EF4-FFF2-40B4-BE49-F238E27FC236}">
                <a16:creationId xmlns:a16="http://schemas.microsoft.com/office/drawing/2014/main" id="{F7652369-45A2-DE0E-D941-075BB8CAFF1C}"/>
              </a:ext>
            </a:extLst>
          </p:cNvPr>
          <p:cNvPicPr>
            <a:picLocks noGrp="1" noChangeAspect="1"/>
          </p:cNvPicPr>
          <p:nvPr>
            <p:ph sz="half" idx="2"/>
          </p:nvPr>
        </p:nvPicPr>
        <p:blipFill>
          <a:blip r:embed="rId2"/>
          <a:stretch>
            <a:fillRect/>
          </a:stretch>
        </p:blipFill>
        <p:spPr>
          <a:xfrm>
            <a:off x="927001" y="4242180"/>
            <a:ext cx="4467588" cy="2615820"/>
          </a:xfrm>
        </p:spPr>
      </p:pic>
      <p:pic>
        <p:nvPicPr>
          <p:cNvPr id="10" name="Content Placeholder 9">
            <a:extLst>
              <a:ext uri="{FF2B5EF4-FFF2-40B4-BE49-F238E27FC236}">
                <a16:creationId xmlns:a16="http://schemas.microsoft.com/office/drawing/2014/main" id="{7FDC1CFA-CB03-2044-7076-D61F74D198F2}"/>
              </a:ext>
            </a:extLst>
          </p:cNvPr>
          <p:cNvPicPr>
            <a:picLocks noGrp="1" noChangeAspect="1"/>
          </p:cNvPicPr>
          <p:nvPr>
            <p:ph sz="half" idx="1"/>
          </p:nvPr>
        </p:nvPicPr>
        <p:blipFill>
          <a:blip r:embed="rId3"/>
          <a:stretch>
            <a:fillRect/>
          </a:stretch>
        </p:blipFill>
        <p:spPr>
          <a:xfrm>
            <a:off x="695491" y="1882710"/>
            <a:ext cx="4930609" cy="2359470"/>
          </a:xfrm>
        </p:spPr>
      </p:pic>
      <p:sp>
        <p:nvSpPr>
          <p:cNvPr id="13" name="TextBox 12">
            <a:extLst>
              <a:ext uri="{FF2B5EF4-FFF2-40B4-BE49-F238E27FC236}">
                <a16:creationId xmlns:a16="http://schemas.microsoft.com/office/drawing/2014/main" id="{F62C9FEC-1DF7-8EC1-9263-8FA27451B131}"/>
              </a:ext>
            </a:extLst>
          </p:cNvPr>
          <p:cNvSpPr txBox="1"/>
          <p:nvPr/>
        </p:nvSpPr>
        <p:spPr>
          <a:xfrm>
            <a:off x="6591299" y="2451100"/>
            <a:ext cx="5019509" cy="3323987"/>
          </a:xfrm>
          <a:prstGeom prst="rect">
            <a:avLst/>
          </a:prstGeom>
          <a:noFill/>
        </p:spPr>
        <p:txBody>
          <a:bodyPr wrap="square" rtlCol="0">
            <a:spAutoFit/>
          </a:bodyPr>
          <a:lstStyle/>
          <a:p>
            <a:pPr marL="285750" indent="-285750">
              <a:buFont typeface="Arial" panose="020B0604020202020204" pitchFamily="34" charset="0"/>
              <a:buChar char="•"/>
            </a:pPr>
            <a:r>
              <a:rPr lang="en-US" sz="1400" dirty="0"/>
              <a:t>Continuing with the top result from the previous query, these results show top diagnosis for the patient subset: White, 60s, Male.</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The top results are relatively unrelated to respiratory issues (</a:t>
            </a:r>
            <a:r>
              <a:rPr lang="en-US" sz="1400" i="1" dirty="0"/>
              <a:t>hypertension</a:t>
            </a:r>
            <a:r>
              <a:rPr lang="en-US" sz="1400" dirty="0"/>
              <a:t>, </a:t>
            </a:r>
            <a:r>
              <a:rPr lang="en-US" sz="1400" i="1" dirty="0"/>
              <a:t>atrial fibrillation</a:t>
            </a:r>
            <a:r>
              <a:rPr lang="en-US" sz="1400" dirty="0"/>
              <a:t>, </a:t>
            </a:r>
            <a:r>
              <a:rPr lang="en-US" sz="1400" i="1" dirty="0"/>
              <a:t>congestive heart failure</a:t>
            </a:r>
            <a:r>
              <a:rPr lang="en-US" sz="1400" dirty="0"/>
              <a:t>, </a:t>
            </a:r>
            <a:r>
              <a:rPr lang="en-US" sz="1400" dirty="0" err="1"/>
              <a:t>etc</a:t>
            </a:r>
            <a:r>
              <a:rPr lang="en-US" sz="1400" dirty="0"/>
              <a:t>) but there are some in the list like </a:t>
            </a:r>
            <a:r>
              <a:rPr lang="en-US" sz="1400" i="1" dirty="0"/>
              <a:t>Esophageal reflux</a:t>
            </a:r>
            <a:r>
              <a:rPr lang="en-US" sz="1400" dirty="0"/>
              <a:t>, </a:t>
            </a:r>
            <a:r>
              <a:rPr lang="en-US" sz="1400" i="1" dirty="0"/>
              <a:t>Acute respiratory failure</a:t>
            </a:r>
            <a:r>
              <a:rPr lang="en-US" sz="1400" dirty="0"/>
              <a:t>, </a:t>
            </a:r>
            <a:r>
              <a:rPr lang="en-US" sz="1400" i="1" dirty="0"/>
              <a:t>Chronic Airway obstruction</a:t>
            </a:r>
            <a:r>
              <a:rPr lang="en-US" sz="1400" dirty="0"/>
              <a:t>, </a:t>
            </a:r>
            <a:r>
              <a:rPr lang="en-US" sz="1400" i="1" dirty="0"/>
              <a:t>Pneumonia</a:t>
            </a:r>
            <a:r>
              <a:rPr lang="en-US" sz="1400" dirty="0"/>
              <a:t>, or </a:t>
            </a:r>
            <a:r>
              <a:rPr lang="en-US" sz="1400" i="1" dirty="0"/>
              <a:t>Tobacco use disorder.</a:t>
            </a:r>
          </a:p>
          <a:p>
            <a:pPr marL="285750" indent="-285750">
              <a:buFont typeface="Arial" panose="020B0604020202020204" pitchFamily="34" charset="0"/>
              <a:buChar char="•"/>
            </a:pPr>
            <a:endParaRPr lang="en-US" sz="1400" i="1" dirty="0"/>
          </a:p>
          <a:p>
            <a:pPr marL="285750" indent="-285750">
              <a:buFont typeface="Arial" panose="020B0604020202020204" pitchFamily="34" charset="0"/>
              <a:buChar char="•"/>
            </a:pPr>
            <a:r>
              <a:rPr lang="en-US" sz="1400" dirty="0"/>
              <a:t>This query again uses </a:t>
            </a:r>
            <a:r>
              <a:rPr lang="en-US" sz="1400" i="1" dirty="0"/>
              <a:t>WITH</a:t>
            </a:r>
            <a:r>
              <a:rPr lang="en-US" sz="1400" dirty="0"/>
              <a:t> to first retrieve the patient subgroup mentioned in the first bullet which is then queried and joined with diagnosis and </a:t>
            </a:r>
            <a:r>
              <a:rPr lang="en-US" sz="1400" dirty="0" err="1"/>
              <a:t>d_diagnosis</a:t>
            </a:r>
            <a:r>
              <a:rPr lang="en-US" sz="1400" dirty="0"/>
              <a:t> tables to get the top diagnoses and their names. Percentage is calculated with built in </a:t>
            </a:r>
            <a:r>
              <a:rPr lang="en-US" sz="1400" dirty="0" err="1"/>
              <a:t>postgres</a:t>
            </a:r>
            <a:r>
              <a:rPr lang="en-US" sz="1400" dirty="0"/>
              <a:t> aggregations like SUM and COUNT</a:t>
            </a:r>
            <a:endParaRPr lang="en-US" sz="1400" i="1" dirty="0"/>
          </a:p>
        </p:txBody>
      </p:sp>
    </p:spTree>
    <p:extLst>
      <p:ext uri="{BB962C8B-B14F-4D97-AF65-F5344CB8AC3E}">
        <p14:creationId xmlns:p14="http://schemas.microsoft.com/office/powerpoint/2010/main" val="202389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4385F-346A-9F71-A483-B1723CC73AAD}"/>
              </a:ext>
            </a:extLst>
          </p:cNvPr>
          <p:cNvSpPr>
            <a:spLocks noGrp="1"/>
          </p:cNvSpPr>
          <p:nvPr>
            <p:ph type="title"/>
          </p:nvPr>
        </p:nvSpPr>
        <p:spPr/>
        <p:txBody>
          <a:bodyPr/>
          <a:lstStyle/>
          <a:p>
            <a:r>
              <a:rPr lang="en-US" dirty="0"/>
              <a:t>Query 6:  admissions info for Patient Group</a:t>
            </a:r>
          </a:p>
        </p:txBody>
      </p:sp>
      <p:pic>
        <p:nvPicPr>
          <p:cNvPr id="7" name="Content Placeholder 6">
            <a:extLst>
              <a:ext uri="{FF2B5EF4-FFF2-40B4-BE49-F238E27FC236}">
                <a16:creationId xmlns:a16="http://schemas.microsoft.com/office/drawing/2014/main" id="{37C2AF4D-C931-AA0B-EC4F-C6A9C372CA5B}"/>
              </a:ext>
            </a:extLst>
          </p:cNvPr>
          <p:cNvPicPr>
            <a:picLocks noGrp="1" noChangeAspect="1"/>
          </p:cNvPicPr>
          <p:nvPr>
            <p:ph sz="half" idx="1"/>
          </p:nvPr>
        </p:nvPicPr>
        <p:blipFill>
          <a:blip r:embed="rId2"/>
          <a:stretch>
            <a:fillRect/>
          </a:stretch>
        </p:blipFill>
        <p:spPr>
          <a:xfrm>
            <a:off x="581024" y="1908288"/>
            <a:ext cx="4951440" cy="3348771"/>
          </a:xfrm>
        </p:spPr>
      </p:pic>
      <p:pic>
        <p:nvPicPr>
          <p:cNvPr id="9" name="Content Placeholder 8">
            <a:extLst>
              <a:ext uri="{FF2B5EF4-FFF2-40B4-BE49-F238E27FC236}">
                <a16:creationId xmlns:a16="http://schemas.microsoft.com/office/drawing/2014/main" id="{1AE14156-E83D-921F-0CB3-F51B3981BB6A}"/>
              </a:ext>
            </a:extLst>
          </p:cNvPr>
          <p:cNvPicPr>
            <a:picLocks noGrp="1" noChangeAspect="1"/>
          </p:cNvPicPr>
          <p:nvPr>
            <p:ph sz="half" idx="2"/>
          </p:nvPr>
        </p:nvPicPr>
        <p:blipFill>
          <a:blip r:embed="rId3"/>
          <a:stretch>
            <a:fillRect/>
          </a:stretch>
        </p:blipFill>
        <p:spPr>
          <a:xfrm>
            <a:off x="258762" y="5257059"/>
            <a:ext cx="5422900" cy="1267032"/>
          </a:xfrm>
        </p:spPr>
      </p:pic>
      <p:sp>
        <p:nvSpPr>
          <p:cNvPr id="10" name="TextBox 9">
            <a:extLst>
              <a:ext uri="{FF2B5EF4-FFF2-40B4-BE49-F238E27FC236}">
                <a16:creationId xmlns:a16="http://schemas.microsoft.com/office/drawing/2014/main" id="{57464835-50E6-00E1-9F8F-76F090168C08}"/>
              </a:ext>
            </a:extLst>
          </p:cNvPr>
          <p:cNvSpPr txBox="1"/>
          <p:nvPr/>
        </p:nvSpPr>
        <p:spPr>
          <a:xfrm>
            <a:off x="6248400" y="2324100"/>
            <a:ext cx="4951440" cy="3970318"/>
          </a:xfrm>
          <a:prstGeom prst="rect">
            <a:avLst/>
          </a:prstGeom>
          <a:noFill/>
        </p:spPr>
        <p:txBody>
          <a:bodyPr wrap="square" rtlCol="0">
            <a:spAutoFit/>
          </a:bodyPr>
          <a:lstStyle/>
          <a:p>
            <a:pPr marL="285750" indent="-285750">
              <a:buFont typeface="Arial" panose="020B0604020202020204" pitchFamily="34" charset="0"/>
              <a:buChar char="•"/>
            </a:pPr>
            <a:r>
              <a:rPr lang="en-US" sz="1400" dirty="0"/>
              <a:t>With the same patient subset, white 60s males with respiratory-related conditions, this query investigates the related stay information. </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Results show the count, average length of stay, and percentage of stays that resulted in deaths for each respiratory diagnosis. We see that </a:t>
            </a:r>
            <a:r>
              <a:rPr lang="en-US" sz="1400" i="1" dirty="0"/>
              <a:t>Acute Respiratory Failure</a:t>
            </a:r>
            <a:r>
              <a:rPr lang="en-US" sz="1400" dirty="0"/>
              <a:t> has both the highest average length of stay, </a:t>
            </a:r>
            <a:r>
              <a:rPr lang="en-US" sz="1400" i="1" dirty="0"/>
              <a:t>over 2 weeks</a:t>
            </a:r>
            <a:r>
              <a:rPr lang="en-US" sz="1400" dirty="0"/>
              <a:t>, and a much higher mortality rate, </a:t>
            </a:r>
            <a:r>
              <a:rPr lang="en-US" sz="1400" i="1" dirty="0"/>
              <a:t>~31%, </a:t>
            </a:r>
            <a:r>
              <a:rPr lang="en-US" sz="1400" dirty="0"/>
              <a:t>than other diagnoses. These results highlight the seriousness of such a diagnosis.</a:t>
            </a:r>
          </a:p>
          <a:p>
            <a:pPr marL="285750" indent="-285750">
              <a:buFont typeface="Arial" panose="020B0604020202020204" pitchFamily="34" charset="0"/>
              <a:buChar char="•"/>
            </a:pPr>
            <a:endParaRPr lang="en-US" sz="1400" i="1" dirty="0"/>
          </a:p>
          <a:p>
            <a:pPr marL="285750" indent="-285750">
              <a:buFont typeface="Arial" panose="020B0604020202020204" pitchFamily="34" charset="0"/>
              <a:buChar char="•"/>
            </a:pPr>
            <a:r>
              <a:rPr lang="en-US" sz="1400" dirty="0"/>
              <a:t>This query again uses the WITH keyword to extract the patient subset. With the subset results, </a:t>
            </a:r>
            <a:r>
              <a:rPr lang="en-US" sz="1400" dirty="0" err="1"/>
              <a:t>diagnoses_icd</a:t>
            </a:r>
            <a:r>
              <a:rPr lang="en-US" sz="1400" dirty="0"/>
              <a:t>, </a:t>
            </a:r>
            <a:r>
              <a:rPr lang="en-US" sz="1400" dirty="0" err="1"/>
              <a:t>d_icd_diagnoses</a:t>
            </a:r>
            <a:r>
              <a:rPr lang="en-US" sz="1400" dirty="0"/>
              <a:t>,  and admissions are all joined for each visit. These results are then filtered to only respiratory-related </a:t>
            </a:r>
            <a:r>
              <a:rPr lang="en-US" sz="1400" dirty="0" err="1"/>
              <a:t>icd</a:t>
            </a:r>
            <a:r>
              <a:rPr lang="en-US" sz="1400" dirty="0"/>
              <a:t> titles. Postgres AVG with </a:t>
            </a:r>
            <a:r>
              <a:rPr lang="en-US" sz="1400" dirty="0" err="1"/>
              <a:t>dischtime</a:t>
            </a:r>
            <a:r>
              <a:rPr lang="en-US" sz="1400" dirty="0"/>
              <a:t> and </a:t>
            </a:r>
            <a:r>
              <a:rPr lang="en-US" sz="1400" dirty="0" err="1"/>
              <a:t>admittime</a:t>
            </a:r>
            <a:r>
              <a:rPr lang="en-US" sz="1400" dirty="0"/>
              <a:t> is used to get </a:t>
            </a:r>
            <a:r>
              <a:rPr lang="en-US" sz="1400" dirty="0" err="1"/>
              <a:t>avg_los</a:t>
            </a:r>
            <a:r>
              <a:rPr lang="en-US" sz="1400" dirty="0"/>
              <a:t> and percent deaths is calculated based on the deathtime.</a:t>
            </a:r>
          </a:p>
        </p:txBody>
      </p:sp>
    </p:spTree>
    <p:extLst>
      <p:ext uri="{BB962C8B-B14F-4D97-AF65-F5344CB8AC3E}">
        <p14:creationId xmlns:p14="http://schemas.microsoft.com/office/powerpoint/2010/main" val="3409981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3537-8E88-CBF9-EA71-DB2560437695}"/>
              </a:ext>
            </a:extLst>
          </p:cNvPr>
          <p:cNvSpPr>
            <a:spLocks noGrp="1"/>
          </p:cNvSpPr>
          <p:nvPr>
            <p:ph type="title"/>
          </p:nvPr>
        </p:nvSpPr>
        <p:spPr/>
        <p:txBody>
          <a:bodyPr/>
          <a:lstStyle/>
          <a:p>
            <a:r>
              <a:rPr lang="en-US" dirty="0"/>
              <a:t>Query 7: Prescription info for patient group</a:t>
            </a:r>
          </a:p>
        </p:txBody>
      </p:sp>
      <p:pic>
        <p:nvPicPr>
          <p:cNvPr id="6" name="Content Placeholder 5">
            <a:extLst>
              <a:ext uri="{FF2B5EF4-FFF2-40B4-BE49-F238E27FC236}">
                <a16:creationId xmlns:a16="http://schemas.microsoft.com/office/drawing/2014/main" id="{A7CC2C6B-5A24-7B39-653D-E204B687FE65}"/>
              </a:ext>
            </a:extLst>
          </p:cNvPr>
          <p:cNvPicPr>
            <a:picLocks noGrp="1" noChangeAspect="1"/>
          </p:cNvPicPr>
          <p:nvPr>
            <p:ph sz="half" idx="1"/>
          </p:nvPr>
        </p:nvPicPr>
        <p:blipFill>
          <a:blip r:embed="rId2"/>
          <a:stretch>
            <a:fillRect/>
          </a:stretch>
        </p:blipFill>
        <p:spPr>
          <a:xfrm>
            <a:off x="1102056" y="4213523"/>
            <a:ext cx="3533279" cy="2522537"/>
          </a:xfrm>
        </p:spPr>
      </p:pic>
      <p:pic>
        <p:nvPicPr>
          <p:cNvPr id="8" name="Content Placeholder 7">
            <a:extLst>
              <a:ext uri="{FF2B5EF4-FFF2-40B4-BE49-F238E27FC236}">
                <a16:creationId xmlns:a16="http://schemas.microsoft.com/office/drawing/2014/main" id="{14E4E306-7427-33B1-4071-E55F7DC26DD4}"/>
              </a:ext>
            </a:extLst>
          </p:cNvPr>
          <p:cNvPicPr>
            <a:picLocks noGrp="1" noChangeAspect="1"/>
          </p:cNvPicPr>
          <p:nvPr>
            <p:ph sz="half" idx="2"/>
          </p:nvPr>
        </p:nvPicPr>
        <p:blipFill>
          <a:blip r:embed="rId3"/>
          <a:stretch>
            <a:fillRect/>
          </a:stretch>
        </p:blipFill>
        <p:spPr>
          <a:xfrm>
            <a:off x="1190793" y="1817689"/>
            <a:ext cx="3355807" cy="2395834"/>
          </a:xfrm>
        </p:spPr>
      </p:pic>
      <p:sp>
        <p:nvSpPr>
          <p:cNvPr id="10" name="TextBox 9">
            <a:extLst>
              <a:ext uri="{FF2B5EF4-FFF2-40B4-BE49-F238E27FC236}">
                <a16:creationId xmlns:a16="http://schemas.microsoft.com/office/drawing/2014/main" id="{12F0313C-7474-9CC0-F074-DB6647831C61}"/>
              </a:ext>
            </a:extLst>
          </p:cNvPr>
          <p:cNvSpPr txBox="1"/>
          <p:nvPr/>
        </p:nvSpPr>
        <p:spPr>
          <a:xfrm>
            <a:off x="5619752" y="2336800"/>
            <a:ext cx="5721348" cy="3108543"/>
          </a:xfrm>
          <a:prstGeom prst="rect">
            <a:avLst/>
          </a:prstGeom>
          <a:noFill/>
        </p:spPr>
        <p:txBody>
          <a:bodyPr wrap="square" rtlCol="0">
            <a:spAutoFit/>
          </a:bodyPr>
          <a:lstStyle/>
          <a:p>
            <a:pPr marL="285750" indent="-285750">
              <a:buFont typeface="Arial" panose="020B0604020202020204" pitchFamily="34" charset="0"/>
              <a:buChar char="•"/>
            </a:pPr>
            <a:r>
              <a:rPr lang="en-US" sz="1400" dirty="0"/>
              <a:t>Continuing with the same patient subgroup (white 60s M) , this query identifies what the top 10 prescriptions are for each respiratory-related diagnosis.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The results show common IV drugs as the top results such as </a:t>
            </a:r>
            <a:r>
              <a:rPr lang="en-US" sz="1400" i="1" dirty="0"/>
              <a:t>Insulin, Potassium Chloride, and Furosemide</a:t>
            </a:r>
            <a:r>
              <a:rPr lang="en-US" sz="1400" dirty="0"/>
              <a:t>. Because these drugs are so commonly given to many diagnoses, they may not actually be related to the respiratory-specific diagnosis.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This query first uses WITH to get the patient subgroup in the same way as previous queries.  A second subquery is then used to get a list of drugs grouped by each respiratory-related icd9 long title. RANK and PARTITION BY are used to identify the top drugs within each group. Finally, the results are selected from the second subquery.</a:t>
            </a:r>
          </a:p>
        </p:txBody>
      </p:sp>
    </p:spTree>
    <p:extLst>
      <p:ext uri="{BB962C8B-B14F-4D97-AF65-F5344CB8AC3E}">
        <p14:creationId xmlns:p14="http://schemas.microsoft.com/office/powerpoint/2010/main" val="2734926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AB5C0-7AF1-2AE9-9C15-7F102B025AB2}"/>
              </a:ext>
            </a:extLst>
          </p:cNvPr>
          <p:cNvSpPr>
            <a:spLocks noGrp="1"/>
          </p:cNvSpPr>
          <p:nvPr>
            <p:ph type="title"/>
          </p:nvPr>
        </p:nvSpPr>
        <p:spPr/>
        <p:txBody>
          <a:bodyPr/>
          <a:lstStyle/>
          <a:p>
            <a:r>
              <a:rPr lang="en-US" dirty="0"/>
              <a:t>Query 8: Procedure info for patient subgroup</a:t>
            </a:r>
          </a:p>
        </p:txBody>
      </p:sp>
      <p:pic>
        <p:nvPicPr>
          <p:cNvPr id="6" name="Content Placeholder 5">
            <a:extLst>
              <a:ext uri="{FF2B5EF4-FFF2-40B4-BE49-F238E27FC236}">
                <a16:creationId xmlns:a16="http://schemas.microsoft.com/office/drawing/2014/main" id="{629A26C8-30EB-86CB-E7C5-A5B70C7E1C73}"/>
              </a:ext>
            </a:extLst>
          </p:cNvPr>
          <p:cNvPicPr>
            <a:picLocks noGrp="1" noChangeAspect="1"/>
          </p:cNvPicPr>
          <p:nvPr>
            <p:ph sz="half" idx="1"/>
          </p:nvPr>
        </p:nvPicPr>
        <p:blipFill>
          <a:blip r:embed="rId2"/>
          <a:stretch>
            <a:fillRect/>
          </a:stretch>
        </p:blipFill>
        <p:spPr>
          <a:xfrm>
            <a:off x="1207685" y="4298343"/>
            <a:ext cx="3440516" cy="2451707"/>
          </a:xfrm>
        </p:spPr>
      </p:pic>
      <p:pic>
        <p:nvPicPr>
          <p:cNvPr id="8" name="Content Placeholder 7">
            <a:extLst>
              <a:ext uri="{FF2B5EF4-FFF2-40B4-BE49-F238E27FC236}">
                <a16:creationId xmlns:a16="http://schemas.microsoft.com/office/drawing/2014/main" id="{1AD91CD8-578F-CDB1-FF41-0F5509CF7E78}"/>
              </a:ext>
            </a:extLst>
          </p:cNvPr>
          <p:cNvPicPr>
            <a:picLocks noGrp="1" noChangeAspect="1"/>
          </p:cNvPicPr>
          <p:nvPr>
            <p:ph sz="half" idx="2"/>
          </p:nvPr>
        </p:nvPicPr>
        <p:blipFill>
          <a:blip r:embed="rId3"/>
          <a:stretch>
            <a:fillRect/>
          </a:stretch>
        </p:blipFill>
        <p:spPr>
          <a:xfrm>
            <a:off x="1149500" y="1846635"/>
            <a:ext cx="3498701" cy="2451708"/>
          </a:xfrm>
        </p:spPr>
      </p:pic>
      <p:sp>
        <p:nvSpPr>
          <p:cNvPr id="9" name="TextBox 8">
            <a:extLst>
              <a:ext uri="{FF2B5EF4-FFF2-40B4-BE49-F238E27FC236}">
                <a16:creationId xmlns:a16="http://schemas.microsoft.com/office/drawing/2014/main" id="{8ACD6BE4-ED72-D592-F12D-E079825BC5FC}"/>
              </a:ext>
            </a:extLst>
          </p:cNvPr>
          <p:cNvSpPr txBox="1"/>
          <p:nvPr/>
        </p:nvSpPr>
        <p:spPr>
          <a:xfrm>
            <a:off x="6042008" y="2118382"/>
            <a:ext cx="5568801" cy="3754874"/>
          </a:xfrm>
          <a:prstGeom prst="rect">
            <a:avLst/>
          </a:prstGeom>
          <a:noFill/>
        </p:spPr>
        <p:txBody>
          <a:bodyPr wrap="square" rtlCol="0">
            <a:spAutoFit/>
          </a:bodyPr>
          <a:lstStyle/>
          <a:p>
            <a:pPr marL="285750" indent="-285750">
              <a:buFont typeface="Arial" panose="020B0604020202020204" pitchFamily="34" charset="0"/>
              <a:buChar char="•"/>
            </a:pPr>
            <a:r>
              <a:rPr lang="en-US" sz="1400" dirty="0"/>
              <a:t>Continuing with the same patient subgroup (white 60s M), this query identifies what the top procedures are for all respiratory-related diagnoses.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The results show various respiratory related procedures such as </a:t>
            </a:r>
            <a:r>
              <a:rPr lang="en-US" sz="1400" i="1" dirty="0"/>
              <a:t>Insertion of endotracheal tube, Continuous invasive mechanical ventilation (&lt; and &gt; 96 hours), and Closed [endoscopic] biopsy of bronchus</a:t>
            </a:r>
            <a:r>
              <a:rPr lang="en-US" sz="1400" dirty="0"/>
              <a:t>. </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There are also other general procedures such as </a:t>
            </a:r>
            <a:r>
              <a:rPr lang="en-US" sz="1400" i="1" dirty="0"/>
              <a:t>venous catheterization, Enteral infusion of concentrated nutritional substances,  and Extracorporeal circulation auxiliary to open heart surgery.</a:t>
            </a:r>
          </a:p>
          <a:p>
            <a:pPr marL="285750" indent="-285750">
              <a:buFont typeface="Arial" panose="020B0604020202020204" pitchFamily="34" charset="0"/>
              <a:buChar char="•"/>
            </a:pPr>
            <a:endParaRPr lang="en-US" sz="1400" i="1" dirty="0"/>
          </a:p>
          <a:p>
            <a:pPr marL="285750" indent="-285750">
              <a:buFont typeface="Arial" panose="020B0604020202020204" pitchFamily="34" charset="0"/>
              <a:buChar char="•"/>
            </a:pPr>
            <a:r>
              <a:rPr lang="en-US" sz="1400" dirty="0"/>
              <a:t>This query works by using WITH to capture the patient subset, then using those results for a new WITH capturing the patient diagnosis, then finally querying the diagnosis results by joining the </a:t>
            </a:r>
            <a:r>
              <a:rPr lang="en-US" sz="1400" dirty="0" err="1"/>
              <a:t>procedures_icd</a:t>
            </a:r>
            <a:r>
              <a:rPr lang="en-US" sz="1400" dirty="0"/>
              <a:t> and </a:t>
            </a:r>
            <a:r>
              <a:rPr lang="en-US" sz="1400" dirty="0" err="1"/>
              <a:t>d_icd_procedures</a:t>
            </a:r>
            <a:r>
              <a:rPr lang="en-US" sz="1400" dirty="0"/>
              <a:t> table and grouping by icd9 code and long title.</a:t>
            </a:r>
          </a:p>
        </p:txBody>
      </p:sp>
    </p:spTree>
    <p:extLst>
      <p:ext uri="{BB962C8B-B14F-4D97-AF65-F5344CB8AC3E}">
        <p14:creationId xmlns:p14="http://schemas.microsoft.com/office/powerpoint/2010/main" val="932786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0FBB1-A5FF-F7AA-B1B6-2A535273D0DB}"/>
              </a:ext>
            </a:extLst>
          </p:cNvPr>
          <p:cNvSpPr>
            <a:spLocks noGrp="1"/>
          </p:cNvSpPr>
          <p:nvPr>
            <p:ph type="title"/>
          </p:nvPr>
        </p:nvSpPr>
        <p:spPr/>
        <p:txBody>
          <a:bodyPr/>
          <a:lstStyle/>
          <a:p>
            <a:r>
              <a:rPr lang="en-US" dirty="0"/>
              <a:t>Query 9: Overall mortality of Diagnosis</a:t>
            </a:r>
          </a:p>
        </p:txBody>
      </p:sp>
      <p:pic>
        <p:nvPicPr>
          <p:cNvPr id="6" name="Content Placeholder 5">
            <a:extLst>
              <a:ext uri="{FF2B5EF4-FFF2-40B4-BE49-F238E27FC236}">
                <a16:creationId xmlns:a16="http://schemas.microsoft.com/office/drawing/2014/main" id="{F82F76A0-5AA8-CB7C-FF4E-B1D1B82D21FC}"/>
              </a:ext>
            </a:extLst>
          </p:cNvPr>
          <p:cNvPicPr>
            <a:picLocks noGrp="1" noChangeAspect="1"/>
          </p:cNvPicPr>
          <p:nvPr>
            <p:ph sz="half" idx="1"/>
          </p:nvPr>
        </p:nvPicPr>
        <p:blipFill>
          <a:blip r:embed="rId2"/>
          <a:stretch>
            <a:fillRect/>
          </a:stretch>
        </p:blipFill>
        <p:spPr>
          <a:xfrm>
            <a:off x="581025" y="5000311"/>
            <a:ext cx="5422900" cy="1669890"/>
          </a:xfrm>
        </p:spPr>
      </p:pic>
      <p:pic>
        <p:nvPicPr>
          <p:cNvPr id="8" name="Content Placeholder 7">
            <a:extLst>
              <a:ext uri="{FF2B5EF4-FFF2-40B4-BE49-F238E27FC236}">
                <a16:creationId xmlns:a16="http://schemas.microsoft.com/office/drawing/2014/main" id="{EFF4FA8F-283F-F137-9B0F-78B8B6C9599C}"/>
              </a:ext>
            </a:extLst>
          </p:cNvPr>
          <p:cNvPicPr>
            <a:picLocks noGrp="1" noChangeAspect="1"/>
          </p:cNvPicPr>
          <p:nvPr>
            <p:ph sz="half" idx="2"/>
          </p:nvPr>
        </p:nvPicPr>
        <p:blipFill>
          <a:blip r:embed="rId3"/>
          <a:stretch>
            <a:fillRect/>
          </a:stretch>
        </p:blipFill>
        <p:spPr>
          <a:xfrm>
            <a:off x="581025" y="2000425"/>
            <a:ext cx="5422900" cy="2857150"/>
          </a:xfrm>
        </p:spPr>
      </p:pic>
      <p:sp>
        <p:nvSpPr>
          <p:cNvPr id="9" name="TextBox 8">
            <a:extLst>
              <a:ext uri="{FF2B5EF4-FFF2-40B4-BE49-F238E27FC236}">
                <a16:creationId xmlns:a16="http://schemas.microsoft.com/office/drawing/2014/main" id="{4DE41F91-0A9F-FF9E-43CC-6F0F29C320B2}"/>
              </a:ext>
            </a:extLst>
          </p:cNvPr>
          <p:cNvSpPr txBox="1"/>
          <p:nvPr/>
        </p:nvSpPr>
        <p:spPr>
          <a:xfrm>
            <a:off x="6350000" y="2063925"/>
            <a:ext cx="4613109" cy="3539430"/>
          </a:xfrm>
          <a:prstGeom prst="rect">
            <a:avLst/>
          </a:prstGeom>
          <a:noFill/>
        </p:spPr>
        <p:txBody>
          <a:bodyPr wrap="square" rtlCol="0">
            <a:spAutoFit/>
          </a:bodyPr>
          <a:lstStyle/>
          <a:p>
            <a:pPr marL="285750" indent="-285750">
              <a:buFont typeface="Arial" panose="020B0604020202020204" pitchFamily="34" charset="0"/>
              <a:buChar char="•"/>
            </a:pPr>
            <a:r>
              <a:rPr lang="en-US" sz="1400" dirty="0"/>
              <a:t>This query identifies the diagnosis that has led to the most deaths in patients, in case there is any link to the previous respiratory-related diagnoses.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The results are sorted by highest percentage but are also weighted by the overall number of deaths so that diagnoses with a single case and a single death do not dominate the results. We see that </a:t>
            </a:r>
            <a:r>
              <a:rPr lang="en-US" sz="1400" i="1" dirty="0"/>
              <a:t>Acute respiratory failure</a:t>
            </a:r>
            <a:r>
              <a:rPr lang="en-US" sz="1400" dirty="0"/>
              <a:t> is the top ranked result and that </a:t>
            </a:r>
            <a:r>
              <a:rPr lang="en-US" sz="1400" i="1" dirty="0"/>
              <a:t>Pneumonia</a:t>
            </a:r>
            <a:r>
              <a:rPr lang="en-US" sz="1400" dirty="0"/>
              <a:t> also shows up farther down.</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This query works by using a </a:t>
            </a:r>
            <a:r>
              <a:rPr lang="en-US" sz="1400" i="1" dirty="0"/>
              <a:t>WITH</a:t>
            </a:r>
            <a:r>
              <a:rPr lang="en-US" sz="1400" dirty="0"/>
              <a:t> subquery to get the death information from the admissions table with </a:t>
            </a:r>
            <a:r>
              <a:rPr lang="en-US" sz="1400" dirty="0" err="1"/>
              <a:t>diagnoses_icd</a:t>
            </a:r>
            <a:r>
              <a:rPr lang="en-US" sz="1400" dirty="0"/>
              <a:t> and </a:t>
            </a:r>
            <a:r>
              <a:rPr lang="en-US" sz="1400" dirty="0" err="1"/>
              <a:t>d_icd_diagnoses</a:t>
            </a:r>
            <a:r>
              <a:rPr lang="en-US" sz="1400" dirty="0"/>
              <a:t> also getting joined for </a:t>
            </a:r>
            <a:r>
              <a:rPr lang="en-US" sz="1400" dirty="0" err="1"/>
              <a:t>icd</a:t>
            </a:r>
            <a:r>
              <a:rPr lang="en-US" sz="1400" dirty="0"/>
              <a:t> title info. Results are then selected and </a:t>
            </a:r>
            <a:r>
              <a:rPr lang="en-US" sz="1400" dirty="0" err="1"/>
              <a:t>orded</a:t>
            </a:r>
            <a:r>
              <a:rPr lang="en-US" sz="1400" dirty="0"/>
              <a:t> by </a:t>
            </a:r>
            <a:r>
              <a:rPr lang="en-US" sz="1400" dirty="0" err="1"/>
              <a:t>death_count</a:t>
            </a:r>
            <a:r>
              <a:rPr lang="en-US" sz="1400" dirty="0"/>
              <a:t> and </a:t>
            </a:r>
            <a:r>
              <a:rPr lang="en-US" sz="1400" dirty="0" err="1"/>
              <a:t>death_percentage</a:t>
            </a:r>
            <a:r>
              <a:rPr lang="en-US" sz="1400" dirty="0"/>
              <a:t>.</a:t>
            </a:r>
          </a:p>
        </p:txBody>
      </p:sp>
    </p:spTree>
    <p:extLst>
      <p:ext uri="{BB962C8B-B14F-4D97-AF65-F5344CB8AC3E}">
        <p14:creationId xmlns:p14="http://schemas.microsoft.com/office/powerpoint/2010/main" val="129165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D1AC0-B8AD-538B-9398-BE09A9BFEF48}"/>
              </a:ext>
            </a:extLst>
          </p:cNvPr>
          <p:cNvSpPr>
            <a:spLocks noGrp="1"/>
          </p:cNvSpPr>
          <p:nvPr>
            <p:ph type="title"/>
          </p:nvPr>
        </p:nvSpPr>
        <p:spPr/>
        <p:txBody>
          <a:bodyPr/>
          <a:lstStyle/>
          <a:p>
            <a:r>
              <a:rPr lang="en-US" dirty="0"/>
              <a:t>Query 10: Successful Callouts for Respiratory Diagnoses</a:t>
            </a:r>
          </a:p>
        </p:txBody>
      </p:sp>
      <p:pic>
        <p:nvPicPr>
          <p:cNvPr id="6" name="Content Placeholder 5">
            <a:extLst>
              <a:ext uri="{FF2B5EF4-FFF2-40B4-BE49-F238E27FC236}">
                <a16:creationId xmlns:a16="http://schemas.microsoft.com/office/drawing/2014/main" id="{ABE33258-439A-DB1E-297E-0E39EB64C377}"/>
              </a:ext>
            </a:extLst>
          </p:cNvPr>
          <p:cNvPicPr>
            <a:picLocks noGrp="1" noChangeAspect="1"/>
          </p:cNvPicPr>
          <p:nvPr>
            <p:ph sz="half" idx="1"/>
          </p:nvPr>
        </p:nvPicPr>
        <p:blipFill>
          <a:blip r:embed="rId2"/>
          <a:stretch>
            <a:fillRect/>
          </a:stretch>
        </p:blipFill>
        <p:spPr>
          <a:xfrm>
            <a:off x="581193" y="5297801"/>
            <a:ext cx="5422900" cy="1248127"/>
          </a:xfrm>
        </p:spPr>
      </p:pic>
      <p:pic>
        <p:nvPicPr>
          <p:cNvPr id="8" name="Content Placeholder 7">
            <a:extLst>
              <a:ext uri="{FF2B5EF4-FFF2-40B4-BE49-F238E27FC236}">
                <a16:creationId xmlns:a16="http://schemas.microsoft.com/office/drawing/2014/main" id="{8ABCB5F7-92F5-D0C6-0E56-13D8F15AB8A6}"/>
              </a:ext>
            </a:extLst>
          </p:cNvPr>
          <p:cNvPicPr>
            <a:picLocks noGrp="1" noChangeAspect="1"/>
          </p:cNvPicPr>
          <p:nvPr>
            <p:ph sz="half" idx="2"/>
          </p:nvPr>
        </p:nvPicPr>
        <p:blipFill>
          <a:blip r:embed="rId3"/>
          <a:stretch>
            <a:fillRect/>
          </a:stretch>
        </p:blipFill>
        <p:spPr>
          <a:xfrm>
            <a:off x="581193" y="1991617"/>
            <a:ext cx="5422900" cy="3148394"/>
          </a:xfrm>
        </p:spPr>
      </p:pic>
      <p:sp>
        <p:nvSpPr>
          <p:cNvPr id="9" name="TextBox 8">
            <a:extLst>
              <a:ext uri="{FF2B5EF4-FFF2-40B4-BE49-F238E27FC236}">
                <a16:creationId xmlns:a16="http://schemas.microsoft.com/office/drawing/2014/main" id="{AC538467-E2B3-296A-CF92-8B43ABE55440}"/>
              </a:ext>
            </a:extLst>
          </p:cNvPr>
          <p:cNvSpPr txBox="1"/>
          <p:nvPr/>
        </p:nvSpPr>
        <p:spPr>
          <a:xfrm>
            <a:off x="6636773" y="2167824"/>
            <a:ext cx="4974034" cy="3970318"/>
          </a:xfrm>
          <a:prstGeom prst="rect">
            <a:avLst/>
          </a:prstGeom>
          <a:noFill/>
        </p:spPr>
        <p:txBody>
          <a:bodyPr wrap="square" rtlCol="0">
            <a:spAutoFit/>
          </a:bodyPr>
          <a:lstStyle/>
          <a:p>
            <a:pPr marL="285750" indent="-285750">
              <a:buFont typeface="Arial" panose="020B0604020202020204" pitchFamily="34" charset="0"/>
              <a:buChar char="•"/>
            </a:pPr>
            <a:r>
              <a:rPr lang="en-US" sz="1400" dirty="0"/>
              <a:t>This query takes us back the the original one in relation to callouts, what does the success of callouts look like for the respiratory conditions that have been explored in the previous queries.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From the results we see the reflux in the most successful in its callout transfers while Acute Respiratory Failure is the worst. This could be connected to the fact that Acute Respiratory Failure has a much higher mortality rate but further data analysis is needed.</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This query works by first doing a query to get the </a:t>
            </a:r>
            <a:r>
              <a:rPr lang="en-US" sz="1400" dirty="0" err="1"/>
              <a:t>long_title</a:t>
            </a:r>
            <a:r>
              <a:rPr lang="en-US" sz="1400" dirty="0"/>
              <a:t> and admissions id of patients that came in with the </a:t>
            </a:r>
            <a:r>
              <a:rPr lang="en-US" sz="1400" dirty="0" err="1"/>
              <a:t>repiratory</a:t>
            </a:r>
            <a:r>
              <a:rPr lang="en-US" sz="1400" dirty="0"/>
              <a:t>-related diagnoses. Then the results of the first query are joined with the callout table and the </a:t>
            </a:r>
            <a:r>
              <a:rPr lang="en-US" sz="1400" dirty="0" err="1"/>
              <a:t>callout_outcome</a:t>
            </a:r>
            <a:r>
              <a:rPr lang="en-US" sz="1400" dirty="0"/>
              <a:t> is summed to determine the successful count. One final query is used to select the final results and the percentage of successful callouts </a:t>
            </a:r>
            <a:r>
              <a:rPr lang="en-US" sz="1400"/>
              <a:t>is calculated.</a:t>
            </a:r>
            <a:endParaRPr lang="en-US" sz="1400" dirty="0"/>
          </a:p>
        </p:txBody>
      </p:sp>
    </p:spTree>
    <p:extLst>
      <p:ext uri="{BB962C8B-B14F-4D97-AF65-F5344CB8AC3E}">
        <p14:creationId xmlns:p14="http://schemas.microsoft.com/office/powerpoint/2010/main" val="3795952736"/>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Dividend</Template>
  <TotalTime>1332</TotalTime>
  <Words>1545</Words>
  <Application>Microsoft Macintosh PowerPoint</Application>
  <PresentationFormat>Widescreen</PresentationFormat>
  <Paragraphs>68</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Gill Sans MT</vt:lpstr>
      <vt:lpstr>Wingdings 2</vt:lpstr>
      <vt:lpstr>Dividend</vt:lpstr>
      <vt:lpstr>Mimic SQL</vt:lpstr>
      <vt:lpstr>Query 1: Unsuccessful callouts</vt:lpstr>
      <vt:lpstr>Query 2:  Transfers for unsuccessful callouts</vt:lpstr>
      <vt:lpstr>Query 3: Frequently Transferred Patient</vt:lpstr>
      <vt:lpstr>Query 4: Other Deviations in Respiratory Rate</vt:lpstr>
      <vt:lpstr>Query 5: Common Diagnosis of 60s white Males</vt:lpstr>
      <vt:lpstr>Query 6:  admissions info for Patient Group</vt:lpstr>
      <vt:lpstr>Query 7: Prescription info for patient group</vt:lpstr>
      <vt:lpstr>Query 8: Procedure info for patient subgroup</vt:lpstr>
      <vt:lpstr>Query 9: Overall mortality of Diagnosis</vt:lpstr>
      <vt:lpstr>Query 10: Successful Callouts for Respiratory Diagnoses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Owen McCormack</dc:creator>
  <cp:lastModifiedBy>Owen McCormack</cp:lastModifiedBy>
  <cp:revision>22</cp:revision>
  <dcterms:created xsi:type="dcterms:W3CDTF">2025-02-08T00:16:17Z</dcterms:created>
  <dcterms:modified xsi:type="dcterms:W3CDTF">2025-02-09T14:08:59Z</dcterms:modified>
</cp:coreProperties>
</file>